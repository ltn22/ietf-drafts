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3716000" cx="2438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urX6pNth1EfUBa76q+tnYk5Hk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7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6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1" name="Google Shape;11;p17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17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puces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photo">
  <p:cSld name="Titre et phot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9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tre titre et photo">
  <p:cSld name="Autre titre et photo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20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ces">
  <p:cSld name="Puce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, puces et photo">
  <p:cSld name="Titre, puces et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, puces, vidéo direct, petit">
  <p:cSld name="Titre, puces, vidéo direct, peti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, puces, vidéo direct, grand">
  <p:cSld name="Titre, puces, vidéo direct, grand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ement">
  <p:cSld name="Titre seulem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dre du jour">
  <p:cSld name="Ordre du jou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Énoncé">
  <p:cSld name="Énoncé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it important">
  <p:cSld name="Fait importa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">
  <p:cSld name="Cita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 photos">
  <p:cSld name="3 photo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1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1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2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rge">
  <p:cSld name="Vierg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4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atatracker.ietf.org/doc/draft-toutain-schc-toward-rfc9363bi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lang="en-US" sz="3600"/>
              <a:t>L. Toutain, M. Tiloca, A. Minaburo, S. Sirohi</a:t>
            </a:r>
            <a:endParaRPr/>
          </a:p>
        </p:txBody>
      </p:sp>
      <p:sp>
        <p:nvSpPr>
          <p:cNvPr id="87" name="Google Shape;87;p1"/>
          <p:cNvSpPr txBox="1"/>
          <p:nvPr>
            <p:ph idx="4294967295" type="ctr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</a:pPr>
            <a:r>
              <a:rPr b="1" i="0" lang="en-US" sz="1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Toward RFC9363bis</a:t>
            </a:r>
            <a:endParaRPr/>
          </a:p>
        </p:txBody>
      </p:sp>
      <p:sp>
        <p:nvSpPr>
          <p:cNvPr id="88" name="Google Shape;88;p1"/>
          <p:cNvSpPr txBox="1"/>
          <p:nvPr>
            <p:ph idx="4294967295" type="subTitle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https://datatracker.ietf.org/doc/draft-toutain-schc-toward-rfc9363bis/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95" name="Google Shape;95;p2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20000"/>
          </a:bodyPr>
          <a:lstStyle/>
          <a:p>
            <a:pPr indent="-536447" lvl="0" marL="53644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Reflect in RFC 9363, WG discussion:</a:t>
            </a:r>
            <a:endParaRPr/>
          </a:p>
          <a:p>
            <a:pPr indent="-536447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Universal Options</a:t>
            </a:r>
            <a:endParaRPr/>
          </a:p>
          <a:p>
            <a:pPr indent="-536447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RFC8824 update</a:t>
            </a:r>
            <a:endParaRPr/>
          </a:p>
          <a:p>
            <a:pPr indent="-536447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ICMPv6</a:t>
            </a:r>
            <a:endParaRPr/>
          </a:p>
          <a:p>
            <a:pPr indent="-536447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Compound Ack </a:t>
            </a:r>
            <a:endParaRPr/>
          </a:p>
          <a:p>
            <a:pPr indent="-536447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Char char="•"/>
            </a:pPr>
            <a:r>
              <a:rPr lang="en-US" sz="4224"/>
              <a:t>And goodies </a:t>
            </a:r>
            <a:endParaRPr/>
          </a:p>
          <a:p>
            <a:pPr indent="-206531" lvl="1" marL="1072895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5196"/>
              <a:buFont typeface="Helvetica Neue"/>
              <a:buNone/>
            </a:pPr>
            <a:r>
              <a:t/>
            </a:r>
            <a:endParaRPr sz="4224"/>
          </a:p>
          <a:p>
            <a:pPr indent="0" lvl="0" marL="0" rtl="0" algn="l">
              <a:lnSpc>
                <a:spcPct val="9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Helvetica Neue"/>
              <a:buNone/>
            </a:pPr>
            <a:r>
              <a:rPr lang="en-US" sz="4224"/>
              <a:t>Not a RFC9363bis, initiate discussion in the WG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pic>
        <p:nvPicPr>
          <p:cNvPr descr="Capture d’écran 2026-09-28 à 10.05.53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82" y="2566249"/>
            <a:ext cx="8636001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10153333" y="4436451"/>
            <a:ext cx="2847138" cy="80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RFC 9363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pic>
        <p:nvPicPr>
          <p:cNvPr descr="Capture d’écran 2026-09-28 à 10.05.53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82" y="2566249"/>
            <a:ext cx="8636001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10153333" y="4436451"/>
            <a:ext cx="2847138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RFC 9363</a:t>
            </a:r>
            <a:endParaRPr/>
          </a:p>
        </p:txBody>
      </p:sp>
      <p:pic>
        <p:nvPicPr>
          <p:cNvPr descr="Capture d’écran 2026-09-28 à 10.07.36.png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486" y="7382336"/>
            <a:ext cx="11610181" cy="319001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11250004" y="8254490"/>
            <a:ext cx="8604200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draft-ietf-schc-universal-option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pic>
        <p:nvPicPr>
          <p:cNvPr descr="Capture d’écran 2026-09-28 à 10.05.53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82" y="2566249"/>
            <a:ext cx="8636001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10153333" y="4436451"/>
            <a:ext cx="2847138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RFC 9363</a:t>
            </a:r>
            <a:endParaRPr/>
          </a:p>
        </p:txBody>
      </p:sp>
      <p:pic>
        <p:nvPicPr>
          <p:cNvPr descr="Capture d’écran 2026-09-28 à 10.07.36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486" y="7382336"/>
            <a:ext cx="11610181" cy="319001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1250004" y="8254490"/>
            <a:ext cx="8604200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draft-ietf-schc-universal-option</a:t>
            </a:r>
            <a:endParaRPr/>
          </a:p>
        </p:txBody>
      </p:sp>
      <p:pic>
        <p:nvPicPr>
          <p:cNvPr descr="Gemini_Generated_Image_s2l2m7s2l2m7s2l2-removebg-preview.png"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5972" y="6634195"/>
            <a:ext cx="8597901" cy="468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635314" y="11043554"/>
            <a:ext cx="11462615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Loosing field order imposed by RFC 8724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pic>
        <p:nvPicPr>
          <p:cNvPr descr="Capture d’écran 2026-09-28 à 10.05.53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82" y="2566249"/>
            <a:ext cx="8636001" cy="4762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pture d’écran 2026-09-28 à 10.30.37.png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3345" y="2489496"/>
            <a:ext cx="7576445" cy="845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9503454" y="4720773"/>
            <a:ext cx="480061" cy="80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064162" y="2404961"/>
            <a:ext cx="7576446" cy="5440057"/>
          </a:xfrm>
          <a:prstGeom prst="rect">
            <a:avLst/>
          </a:prstGeom>
          <a:solidFill>
            <a:srgbClr val="929292">
              <a:alpha val="2784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3031743" y="7972293"/>
            <a:ext cx="3287269" cy="80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Deprecated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1719469" y="3184678"/>
            <a:ext cx="2479956" cy="318929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3985654" y="2851347"/>
            <a:ext cx="1351501" cy="318929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pic>
        <p:nvPicPr>
          <p:cNvPr descr="Capture d’écran 2026-09-28 à 10.30.37.png"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345" y="2489496"/>
            <a:ext cx="7576445" cy="84587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9503454" y="4720773"/>
            <a:ext cx="480061" cy="80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1719469" y="3184678"/>
            <a:ext cx="2479957" cy="318929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3985654" y="2851347"/>
            <a:ext cx="1351501" cy="318929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apture d’écran 2026-09-28 à 10.35.07.png"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809" y="3216206"/>
            <a:ext cx="7848601" cy="772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385858" y="4115635"/>
            <a:ext cx="363672" cy="6434233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324447" y="3921345"/>
            <a:ext cx="2479956" cy="511280"/>
          </a:xfrm>
          <a:prstGeom prst="rect">
            <a:avLst/>
          </a:prstGeom>
          <a:solidFill>
            <a:srgbClr val="00A1FF">
              <a:alpha val="4745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890914" y="4170197"/>
            <a:ext cx="1655073" cy="5813618"/>
          </a:xfrm>
          <a:prstGeom prst="rect">
            <a:avLst/>
          </a:prstGeom>
          <a:solidFill>
            <a:srgbClr val="00A1FF">
              <a:alpha val="4745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2310696" y="4588624"/>
            <a:ext cx="2507458" cy="683957"/>
          </a:xfrm>
          <a:prstGeom prst="rect">
            <a:avLst/>
          </a:prstGeom>
          <a:solidFill>
            <a:srgbClr val="60D937">
              <a:alpha val="4823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890702" y="9982351"/>
            <a:ext cx="1655497" cy="683957"/>
          </a:xfrm>
          <a:prstGeom prst="rect">
            <a:avLst/>
          </a:prstGeom>
          <a:solidFill>
            <a:srgbClr val="60D937">
              <a:alpha val="4823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8171145" y="2282369"/>
            <a:ext cx="5119930" cy="1080412"/>
          </a:xfrm>
          <a:prstGeom prst="rect">
            <a:avLst/>
          </a:prstGeom>
          <a:solidFill>
            <a:srgbClr val="FCAB00">
              <a:alpha val="5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Shorter key: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for management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Consequences</a:t>
            </a:r>
            <a:endParaRPr/>
          </a:p>
        </p:txBody>
      </p:sp>
      <p:sp>
        <p:nvSpPr>
          <p:cNvPr id="157" name="Google Shape;157;p8"/>
          <p:cNvSpPr txBox="1"/>
          <p:nvPr>
            <p:ph idx="2" type="body"/>
          </p:nvPr>
        </p:nvSpPr>
        <p:spPr>
          <a:xfrm>
            <a:off x="1206500" y="4248504"/>
            <a:ext cx="9107014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Deprecate coap options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some options are subdivided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OSCORE, KUDOS</a:t>
            </a:r>
            <a:endParaRPr/>
          </a:p>
        </p:txBody>
      </p:sp>
      <p:pic>
        <p:nvPicPr>
          <p:cNvPr descr="Capture d’écran 2026-09-28 à 10.35.07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3625" y="2417396"/>
            <a:ext cx="7848601" cy="772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16021674" y="3316826"/>
            <a:ext cx="363671" cy="6434232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6526730" y="3371388"/>
            <a:ext cx="1655073" cy="5813618"/>
          </a:xfrm>
          <a:prstGeom prst="rect">
            <a:avLst/>
          </a:prstGeom>
          <a:solidFill>
            <a:srgbClr val="00A1FF">
              <a:alpha val="4745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6526518" y="9183542"/>
            <a:ext cx="1655497" cy="683957"/>
          </a:xfrm>
          <a:prstGeom prst="rect">
            <a:avLst/>
          </a:prstGeom>
          <a:solidFill>
            <a:srgbClr val="60D937">
              <a:alpha val="4823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Universal Option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Consequences</a:t>
            </a:r>
            <a:endParaRPr/>
          </a:p>
        </p:txBody>
      </p:sp>
      <p:sp>
        <p:nvSpPr>
          <p:cNvPr id="168" name="Google Shape;168;p9"/>
          <p:cNvSpPr txBox="1"/>
          <p:nvPr>
            <p:ph idx="2" type="body"/>
          </p:nvPr>
        </p:nvSpPr>
        <p:spPr>
          <a:xfrm>
            <a:off x="1206500" y="4248504"/>
            <a:ext cx="9107014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Deprecate coap options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some options are subdivided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OSCORE, KUDOS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Generalise fl-token-length: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fl-length-bytes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fl-length-bits</a:t>
            </a:r>
            <a:endParaRPr/>
          </a:p>
        </p:txBody>
      </p:sp>
      <p:pic>
        <p:nvPicPr>
          <p:cNvPr descr="Capture d’écran 2026-09-28 à 10.35.07.png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43624" y="2417396"/>
            <a:ext cx="7848601" cy="772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16021674" y="3316826"/>
            <a:ext cx="363672" cy="6434232"/>
          </a:xfrm>
          <a:prstGeom prst="rect">
            <a:avLst/>
          </a:prstGeom>
          <a:solidFill>
            <a:srgbClr val="FCAB00">
              <a:alpha val="56078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6526730" y="3371388"/>
            <a:ext cx="1655073" cy="5813618"/>
          </a:xfrm>
          <a:prstGeom prst="rect">
            <a:avLst/>
          </a:prstGeom>
          <a:solidFill>
            <a:srgbClr val="00A1FF">
              <a:alpha val="4745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6526518" y="9183542"/>
            <a:ext cx="1655497" cy="683957"/>
          </a:xfrm>
          <a:prstGeom prst="rect">
            <a:avLst/>
          </a:prstGeom>
          <a:solidFill>
            <a:srgbClr val="60D937">
              <a:alpha val="48235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8323400" y="5732205"/>
            <a:ext cx="1133340" cy="594948"/>
          </a:xfrm>
          <a:prstGeom prst="rect">
            <a:avLst/>
          </a:prstGeom>
          <a:solidFill>
            <a:schemeClr val="accent6">
              <a:alpha val="43529"/>
            </a:scheme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8323400" y="7592216"/>
            <a:ext cx="1133340" cy="594948"/>
          </a:xfrm>
          <a:prstGeom prst="rect">
            <a:avLst/>
          </a:prstGeom>
          <a:solidFill>
            <a:schemeClr val="accent6">
              <a:alpha val="43529"/>
            </a:scheme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ICMPv6</a:t>
            </a:r>
            <a:endParaRPr/>
          </a:p>
        </p:txBody>
      </p:sp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1206500" y="2372962"/>
            <a:ext cx="4939232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What to do ?</a:t>
            </a:r>
            <a:endParaRPr/>
          </a:p>
        </p:txBody>
      </p:sp>
      <p:pic>
        <p:nvPicPr>
          <p:cNvPr descr="Capture d’écran 2026-09-28 à 10.46.51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72" y="3546413"/>
            <a:ext cx="7912101" cy="9321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10"/>
          <p:cNvGrpSpPr/>
          <p:nvPr/>
        </p:nvGrpSpPr>
        <p:grpSpPr>
          <a:xfrm>
            <a:off x="12954278" y="363712"/>
            <a:ext cx="6029988" cy="13351756"/>
            <a:chOff x="0" y="0"/>
            <a:chExt cx="6029986" cy="13351755"/>
          </a:xfrm>
        </p:grpSpPr>
        <p:pic>
          <p:nvPicPr>
            <p:cNvPr descr="Capture d’écran 2026-09-28 à 10.48.13.png" id="183" name="Google Shape;183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200" y="0"/>
              <a:ext cx="5846941" cy="20896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pture d’écran 2026-09-28 à 10.49.22.png" id="184" name="Google Shape;18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563" y="1938307"/>
              <a:ext cx="5989423" cy="10198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pture d’écran 2026-09-28 à 10.50.16.png" id="185" name="Google Shape;18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2154187"/>
              <a:ext cx="5846941" cy="11975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10"/>
          <p:cNvSpPr/>
          <p:nvPr/>
        </p:nvSpPr>
        <p:spPr>
          <a:xfrm>
            <a:off x="5980987" y="11757252"/>
            <a:ext cx="2283745" cy="934780"/>
          </a:xfrm>
          <a:prstGeom prst="rect">
            <a:avLst/>
          </a:prstGeom>
          <a:solidFill>
            <a:srgbClr val="ED220D">
              <a:alpha val="3843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10627203" y="6635374"/>
            <a:ext cx="961035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</a:t>
            </a:r>
            <a:endParaRPr/>
          </a:p>
        </p:txBody>
      </p:sp>
      <p:pic>
        <p:nvPicPr>
          <p:cNvPr descr="image-removebg-preview (6).png" id="188" name="Google Shape;18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7611327" y="6158916"/>
            <a:ext cx="3226750" cy="176134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20118144" y="6308765"/>
            <a:ext cx="2496008" cy="1461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Reverse </a:t>
            </a:r>
            <a:b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ICMPv6</a:t>
            </a:r>
            <a:endParaRPr/>
          </a:p>
        </p:txBody>
      </p:sp>
      <p:sp>
        <p:nvSpPr>
          <p:cNvPr id="195" name="Google Shape;195;p11"/>
          <p:cNvSpPr txBox="1"/>
          <p:nvPr>
            <p:ph idx="1" type="body"/>
          </p:nvPr>
        </p:nvSpPr>
        <p:spPr>
          <a:xfrm>
            <a:off x="1206500" y="2372962"/>
            <a:ext cx="4939232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Goodies</a:t>
            </a:r>
            <a:endParaRPr/>
          </a:p>
        </p:txBody>
      </p:sp>
      <p:pic>
        <p:nvPicPr>
          <p:cNvPr descr="Capture d’écran 2026-09-28 à 10.46.51.png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72" y="3546413"/>
            <a:ext cx="7912101" cy="9321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1"/>
          <p:cNvGrpSpPr/>
          <p:nvPr/>
        </p:nvGrpSpPr>
        <p:grpSpPr>
          <a:xfrm>
            <a:off x="12954278" y="363712"/>
            <a:ext cx="6029987" cy="13351756"/>
            <a:chOff x="0" y="0"/>
            <a:chExt cx="6029986" cy="13351754"/>
          </a:xfrm>
        </p:grpSpPr>
        <p:pic>
          <p:nvPicPr>
            <p:cNvPr descr="Capture d’écran 2026-09-28 à 10.48.13.png" id="198" name="Google Shape;198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200" y="0"/>
              <a:ext cx="5846941" cy="20896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pture d’écran 2026-09-28 à 10.49.22.png" id="199" name="Google Shape;19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563" y="1938307"/>
              <a:ext cx="5989423" cy="10198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pture d’écran 2026-09-28 à 10.50.16.png" id="200" name="Google Shape;200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12154187"/>
              <a:ext cx="5846941" cy="1197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11"/>
          <p:cNvSpPr/>
          <p:nvPr/>
        </p:nvSpPr>
        <p:spPr>
          <a:xfrm>
            <a:off x="5980987" y="11757252"/>
            <a:ext cx="2283745" cy="934780"/>
          </a:xfrm>
          <a:prstGeom prst="rect">
            <a:avLst/>
          </a:prstGeom>
          <a:solidFill>
            <a:srgbClr val="ED220D">
              <a:alpha val="38431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10627203" y="6635374"/>
            <a:ext cx="961035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</a:t>
            </a:r>
            <a:endParaRPr/>
          </a:p>
        </p:txBody>
      </p:sp>
      <p:pic>
        <p:nvPicPr>
          <p:cNvPr descr="image-removebg-preview (6).png" id="203" name="Google Shape;20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17611328" y="6158916"/>
            <a:ext cx="3226750" cy="17613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 txBox="1"/>
          <p:nvPr/>
        </p:nvSpPr>
        <p:spPr>
          <a:xfrm>
            <a:off x="20118144" y="6308765"/>
            <a:ext cx="2496008" cy="1461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Reverse </a:t>
            </a:r>
            <a:b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direction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1037084" y="11434142"/>
            <a:ext cx="1418455" cy="364307"/>
          </a:xfrm>
          <a:prstGeom prst="rect">
            <a:avLst/>
          </a:prstGeom>
          <a:solidFill>
            <a:srgbClr val="60D937">
              <a:alpha val="34902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3064992" y="13077527"/>
            <a:ext cx="1274920" cy="364306"/>
          </a:xfrm>
          <a:prstGeom prst="rect">
            <a:avLst/>
          </a:prstGeom>
          <a:solidFill>
            <a:srgbClr val="60D937">
              <a:alpha val="34902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4342820" y="13077527"/>
            <a:ext cx="1091454" cy="364306"/>
          </a:xfrm>
          <a:prstGeom prst="rect">
            <a:avLst/>
          </a:prstGeom>
          <a:solidFill>
            <a:srgbClr val="60D937">
              <a:alpha val="34902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Actions</a:t>
            </a:r>
            <a:endParaRPr/>
          </a:p>
        </p:txBody>
      </p:sp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rPr b="1" lang="en-US" sz="5500"/>
              <a:t>For ICMPv6</a:t>
            </a:r>
            <a:endParaRPr/>
          </a:p>
        </p:txBody>
      </p:sp>
      <p:sp>
        <p:nvSpPr>
          <p:cNvPr id="214" name="Google Shape;214;p12"/>
          <p:cNvSpPr txBox="1"/>
          <p:nvPr>
            <p:ph idx="2" type="body"/>
          </p:nvPr>
        </p:nvSpPr>
        <p:spPr>
          <a:xfrm>
            <a:off x="1206499" y="4248504"/>
            <a:ext cx="10961773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Removed for old OAM draft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Bottom-up approach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Included in revision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Top-down approach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for payload compression</a:t>
            </a:r>
            <a:endParaRPr/>
          </a:p>
        </p:txBody>
      </p:sp>
      <p:pic>
        <p:nvPicPr>
          <p:cNvPr descr="Capture d’écran 2026-09-28 à 10.30.37.png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8450" y="1067885"/>
            <a:ext cx="5696459" cy="635981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11557000" y="6397898"/>
            <a:ext cx="4537218" cy="1095102"/>
          </a:xfrm>
          <a:prstGeom prst="rect">
            <a:avLst/>
          </a:prstGeom>
          <a:solidFill>
            <a:srgbClr val="00A1FF">
              <a:alpha val="3686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apture d’écran 2026-09-28 à 11.01.58.png" id="217" name="Google Shape;2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22452" y="8701886"/>
            <a:ext cx="8204201" cy="41021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3714871" y="8989022"/>
            <a:ext cx="2867885" cy="534392"/>
          </a:xfrm>
          <a:prstGeom prst="rect">
            <a:avLst/>
          </a:prstGeom>
          <a:solidFill>
            <a:srgbClr val="00A1FF">
              <a:alpha val="36863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1206500" y="1426125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Management</a:t>
            </a:r>
            <a:endParaRPr/>
          </a:p>
        </p:txBody>
      </p:sp>
      <p:sp>
        <p:nvSpPr>
          <p:cNvPr id="224" name="Google Shape;224;p13"/>
          <p:cNvSpPr txBox="1"/>
          <p:nvPr>
            <p:ph idx="2" type="body"/>
          </p:nvPr>
        </p:nvSpPr>
        <p:spPr>
          <a:xfrm>
            <a:off x="1206500" y="3505779"/>
            <a:ext cx="109617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nature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behaviour as compression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guard period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complex management (as RPC) will be covered by other documents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Specialised management for an environment</a:t>
            </a:r>
            <a:endParaRPr/>
          </a:p>
        </p:txBody>
      </p:sp>
      <p:pic>
        <p:nvPicPr>
          <p:cNvPr descr="Capture d’écran 2026-09-28 à 10.30.37.png"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8773" y="5146612"/>
            <a:ext cx="6629925" cy="740198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/>
          <p:nvPr/>
        </p:nvSpPr>
        <p:spPr>
          <a:xfrm>
            <a:off x="18918867" y="5112397"/>
            <a:ext cx="1144800" cy="458100"/>
          </a:xfrm>
          <a:prstGeom prst="rect">
            <a:avLst/>
          </a:prstGeom>
          <a:solidFill>
            <a:srgbClr val="00A1FF">
              <a:alpha val="36863"/>
            </a:srgbClr>
          </a:solidFill>
          <a:ln>
            <a:noFill/>
          </a:ln>
        </p:spPr>
        <p:txBody>
          <a:bodyPr anchorCtr="0" anchor="ctr" bIns="59125" lIns="59125" spcFirstLastPara="1" rIns="59125" wrap="square" tIns="5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4"/>
              <a:buFont typeface="Helvetica Neue"/>
              <a:buNone/>
            </a:pPr>
            <a:r>
              <a:t/>
            </a:r>
            <a:endParaRPr b="0" i="0" sz="3724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apture d’écran 2026-09-28 à 11.06.35.png" id="227" name="Google Shape;2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19677" y="4266945"/>
            <a:ext cx="4730099" cy="86217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3"/>
          <p:cNvSpPr/>
          <p:nvPr/>
        </p:nvSpPr>
        <p:spPr>
          <a:xfrm>
            <a:off x="14402377" y="4204437"/>
            <a:ext cx="3990000" cy="862200"/>
          </a:xfrm>
          <a:prstGeom prst="rect">
            <a:avLst/>
          </a:prstGeom>
          <a:solidFill>
            <a:srgbClr val="00A1FF">
              <a:alpha val="36863"/>
            </a:srgbClr>
          </a:solidFill>
          <a:ln>
            <a:noFill/>
          </a:ln>
        </p:spPr>
        <p:txBody>
          <a:bodyPr anchorCtr="0" anchor="ctr" bIns="59125" lIns="59125" spcFirstLastPara="1" rIns="59125" wrap="square" tIns="5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24"/>
              <a:buFont typeface="Helvetica Neue"/>
              <a:buNone/>
            </a:pPr>
            <a:r>
              <a:t/>
            </a:r>
            <a:endParaRPr b="0" i="0" sz="3724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SID allocation</a:t>
            </a:r>
            <a:endParaRPr/>
          </a:p>
        </p:txBody>
      </p:sp>
      <p:sp>
        <p:nvSpPr>
          <p:cNvPr id="234" name="Google Shape;234;p14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35" name="Google Shape;235;p14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yet covered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lang="en-US"/>
              <a:t>recommend</a:t>
            </a: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 allocation of SIDs</a:t>
            </a:r>
            <a:endParaRPr/>
          </a:p>
          <a:p>
            <a:pPr indent="-609600" lvl="1" marL="12192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usual identityref (equal, not-sent, …) be the first numbers to allow Sid translation (cf. draft-toutain-core-private-sid-translation)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b="1" i="0" lang="en-US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/>
          </a:p>
        </p:txBody>
      </p:sp>
      <p:sp>
        <p:nvSpPr>
          <p:cNvPr id="241" name="Google Shape;241;p1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</a:pPr>
            <a:r>
              <a:t/>
            </a:r>
            <a:endParaRPr b="1" sz="5500"/>
          </a:p>
        </p:txBody>
      </p:sp>
      <p:sp>
        <p:nvSpPr>
          <p:cNvPr id="242" name="Google Shape;242;p15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in progress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Tested in H-SCHC implementation 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approved, rfc9363 easy to derive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