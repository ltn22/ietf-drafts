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wmf" ContentType="image/x-wmf"/>
  <Default Extension="png" ContentType="image/png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2.xml" ContentType="application/vnd.openxmlformats-officedocument.presentationml.slideLayout+xml"/>
  <Override PartName="/ppt/slides/slide12.xml" ContentType="application/vnd.openxmlformats-officedocument.presentationml.slide+xml"/>
  <Override PartName="/ppt/handoutMasters/handoutMaster1.xml" ContentType="application/vnd.openxmlformats-officedocument.presentationml.handoutMaster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theme/theme3.xml" ContentType="application/vnd.openxmlformats-officedocument.theme+xml"/>
  <Override PartName="/ppt/notesSlides/notesSlide7.xml" ContentType="application/vnd.openxmlformats-officedocument.presentationml.notesSlide+xml"/>
  <Override PartName="/ppt/slides/slide14.xml" ContentType="application/vnd.openxmlformats-officedocument.presentationml.slide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howSpecialPlsOnTitleSld="0" strictFirstAndLastChar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9144000" cy="51435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4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theme" Target="theme/theme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/Relationships>
</file>

<file path=ppt/handoutMasters/_rels/handout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58119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45587399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6200" y="0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r">
              <a:defRPr sz="1200"/>
            </a:lvl1pPr>
          </a:lstStyle>
          <a:p>
            <a:pPr>
              <a:defRPr/>
            </a:pPr>
            <a:fld id="{D3443A2A-87E7-2B0F-68A2-04ECC9D9FA70}" type="datetimeFigureOut">
              <a:rPr lang="en-US"/>
              <a:t/>
            </a:fld>
            <a:endParaRPr/>
          </a:p>
        </p:txBody>
      </p:sp>
      <p:sp>
        <p:nvSpPr>
          <p:cNvPr id="1311249943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0" y="8685213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28068833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3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29CD4B8F-1DF7-40BD-4EAD-14239CF2833F}" type="slidenum">
              <a:rPr/>
              <a:t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180105" name="Google Shape;3;n"/>
          <p:cNvSpPr/>
          <p:nvPr>
            <p:ph type="sldImg" idx="2"/>
          </p:nvPr>
        </p:nvSpPr>
        <p:spPr bwMode="auto"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1044768" name="Google Shape;4;n"/>
          <p:cNvSpPr txBox="1"/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123720" name="Google Shape;79;p1:notes"/>
          <p:cNvSpPr/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8522897" name="Google Shape;80;p1:notes"/>
          <p:cNvSpPr txBox="1"/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598843" name="Google Shape;3;n"/>
          <p:cNvSpPr/>
          <p:nvPr>
            <p:ph type="sldImg" idx="2"/>
          </p:nvPr>
        </p:nvSpPr>
        <p:spPr bwMode="auto"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5303484" name="Google Shape;4;n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748824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2"/>
            <a:ext cx="2971800" cy="45878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C1463F64-9561-2FD5-5416-82C13993CB34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7538712" name="Google Shape;3;n"/>
          <p:cNvSpPr/>
          <p:nvPr>
            <p:ph type="sldImg" idx="2"/>
          </p:nvPr>
        </p:nvSpPr>
        <p:spPr bwMode="auto"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671010" name="Google Shape;4;n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18502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2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0F94FFC8-6335-F355-B151-E871A3E3BA0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752093" name="Google Shape;3;n"/>
          <p:cNvSpPr/>
          <p:nvPr>
            <p:ph type="sldImg" idx="2"/>
          </p:nvPr>
        </p:nvSpPr>
        <p:spPr bwMode="auto"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90957929" name="Google Shape;4;n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62511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2"/>
            <a:ext cx="2971800" cy="45878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7342B07B-2FDE-4C68-5222-9FB6D94F5DC1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6402493" name="Google Shape;79;p1:notes"/>
          <p:cNvSpPr/>
          <p:nvPr>
            <p:ph type="sldImg" idx="2"/>
          </p:nvPr>
        </p:nvSpPr>
        <p:spPr bwMode="auto">
          <a:xfrm>
            <a:off x="380999" y="685800"/>
            <a:ext cx="6095999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94771334" name="Google Shape;80;p1:notes"/>
          <p:cNvSpPr txBox="1"/>
          <p:nvPr>
            <p:ph type="body" idx="1"/>
          </p:nvPr>
        </p:nvSpPr>
        <p:spPr bwMode="auto">
          <a:xfrm>
            <a:off x="914400" y="4343400"/>
            <a:ext cx="50291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921442" name="Google Shape;3;n"/>
          <p:cNvSpPr/>
          <p:nvPr>
            <p:ph type="sldImg" idx="2"/>
          </p:nvPr>
        </p:nvSpPr>
        <p:spPr bwMode="auto"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18947927" name="Google Shape;4;n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173912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2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89CC2183-A392-FB67-0E66-6EC1BB13474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2398643" name="Google Shape;3;n"/>
          <p:cNvSpPr/>
          <p:nvPr>
            <p:ph type="sldImg" idx="2"/>
          </p:nvPr>
        </p:nvSpPr>
        <p:spPr bwMode="auto"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8229230" name="Google Shape;4;n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705087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2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F4BD61CE-69BF-C3FC-AEE1-93A7948757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0941538" name="Google Shape;3;n"/>
          <p:cNvSpPr/>
          <p:nvPr>
            <p:ph type="sldImg" idx="2"/>
          </p:nvPr>
        </p:nvSpPr>
        <p:spPr bwMode="auto"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22685087" name="Google Shape;4;n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49368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2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F3BC15D0-E648-E969-7575-0F769754D36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2833276" name="Google Shape;79;p1:notes"/>
          <p:cNvSpPr/>
          <p:nvPr>
            <p:ph type="sldImg" idx="2"/>
          </p:nvPr>
        </p:nvSpPr>
        <p:spPr bwMode="auto">
          <a:xfrm>
            <a:off x="380999" y="685800"/>
            <a:ext cx="6095999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95571482" name="Google Shape;80;p1:notes"/>
          <p:cNvSpPr txBox="1"/>
          <p:nvPr>
            <p:ph type="body" idx="1"/>
          </p:nvPr>
        </p:nvSpPr>
        <p:spPr bwMode="auto">
          <a:xfrm>
            <a:off x="914400" y="4343400"/>
            <a:ext cx="50291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4190654" name="Google Shape;3;n"/>
          <p:cNvSpPr/>
          <p:nvPr>
            <p:ph type="sldImg" idx="2"/>
          </p:nvPr>
        </p:nvSpPr>
        <p:spPr bwMode="auto"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3427051" name="Google Shape;4;n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94137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2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C960D52C-4C11-5B14-7995-4AFFB546A3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1583839" name="Google Shape;3;n"/>
          <p:cNvSpPr/>
          <p:nvPr>
            <p:ph type="sldImg" idx="2"/>
          </p:nvPr>
        </p:nvSpPr>
        <p:spPr bwMode="auto"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9943813" name="Google Shape;4;n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798372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2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1DDD50ED-9221-B28C-626A-9C21D918C55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7795317" name="Google Shape;3;n"/>
          <p:cNvSpPr/>
          <p:nvPr>
            <p:ph type="sldImg" idx="2"/>
          </p:nvPr>
        </p:nvSpPr>
        <p:spPr bwMode="auto"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05712904" name="Google Shape;4;n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087229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2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2B0B9E0B-B2C4-6447-BBE9-A448A3D2476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8899046" name="Google Shape;79;p1:notes"/>
          <p:cNvSpPr/>
          <p:nvPr>
            <p:ph type="sldImg" idx="2"/>
          </p:nvPr>
        </p:nvSpPr>
        <p:spPr bwMode="auto">
          <a:xfrm>
            <a:off x="380998" y="685800"/>
            <a:ext cx="6095998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2032885" name="Google Shape;80;p1:notes"/>
          <p:cNvSpPr txBox="1"/>
          <p:nvPr>
            <p:ph type="body" idx="1"/>
          </p:nvPr>
        </p:nvSpPr>
        <p:spPr bwMode="auto">
          <a:xfrm>
            <a:off x="914400" y="4343400"/>
            <a:ext cx="5029198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96828" name="Google Shape;3;n"/>
          <p:cNvSpPr/>
          <p:nvPr>
            <p:ph type="sldImg" idx="2"/>
          </p:nvPr>
        </p:nvSpPr>
        <p:spPr bwMode="auto"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86018991" name="Google Shape;4;n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295900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2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E050E1B4-CE1D-1D9C-D9A6-212529324C6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" preserve="0" showMasterPhAnim="0" showMasterSp="1" type="title" userDrawn="1">
  <p:cSld name="TITLE">
    <p:bg>
      <p:bgPr shadeToTitle="0">
        <a:solidFill>
          <a:srgbClr val="002D3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363819" name="Google Shape;10;p4"/>
          <p:cNvSpPr txBox="1"/>
          <p:nvPr>
            <p:ph type="title"/>
          </p:nvPr>
        </p:nvSpPr>
        <p:spPr bwMode="auto">
          <a:xfrm>
            <a:off x="754464" y="2104950"/>
            <a:ext cx="7635072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Inter"/>
              <a:buNone/>
              <a:defRPr sz="4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9319690" name="Google Shape;11;p4"/>
          <p:cNvSpPr txBox="1"/>
          <p:nvPr>
            <p:ph type="sldNum" idx="12"/>
          </p:nvPr>
        </p:nvSpPr>
        <p:spPr bwMode="auto"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47671594" name="Google Shape;12;p4"/>
          <p:cNvSpPr/>
          <p:nvPr/>
        </p:nvSpPr>
        <p:spPr bwMode="auto">
          <a:xfrm>
            <a:off x="-125" y="4147975"/>
            <a:ext cx="9144001" cy="9957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896073187" name="Google Shape;13;p4" descr="Shape 14"/>
          <p:cNvPicPr/>
          <p:nvPr/>
        </p:nvPicPr>
        <p:blipFill rotWithShape="1">
          <a:blip r:embed="rId2">
            <a:alphaModFix/>
          </a:blip>
          <a:srcRect l="0" t="0" r="0" b="0"/>
          <a:stretch/>
        </p:blipFill>
        <p:spPr bwMode="auto">
          <a:xfrm>
            <a:off x="7440438" y="4312261"/>
            <a:ext cx="1256176" cy="667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APTION_ONLY" preserve="0" showMasterPhAnim="0" showMasterSp="1" userDrawn="1">
  <p:cSld name="CAPTION_ONLY">
    <p:bg>
      <p:bgPr shadeToTitle="0">
        <a:solidFill>
          <a:srgbClr val="002D3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2740415" name="Google Shape;15;p7"/>
          <p:cNvSpPr/>
          <p:nvPr/>
        </p:nvSpPr>
        <p:spPr bwMode="auto">
          <a:xfrm rot="10800000" flipH="1">
            <a:off x="0" y="0"/>
            <a:ext cx="9144000" cy="46959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0548973" name="Google Shape;16;p7"/>
          <p:cNvSpPr/>
          <p:nvPr/>
        </p:nvSpPr>
        <p:spPr bwMode="auto">
          <a:xfrm rot="10800000" flipH="1">
            <a:off x="0" y="4622724"/>
            <a:ext cx="9144000" cy="74101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7460443" name="Google Shape;17;p7"/>
          <p:cNvSpPr txBox="1"/>
          <p:nvPr>
            <p:ph type="body" idx="1"/>
          </p:nvPr>
        </p:nvSpPr>
        <p:spPr bwMode="auto">
          <a:xfrm>
            <a:off x="57150" y="4696824"/>
            <a:ext cx="8382000" cy="44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ontserrat"/>
              <a:buNone/>
              <a:defRPr sz="1200" b="0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522830257" name="Google Shape;18;p7"/>
          <p:cNvSpPr txBox="1"/>
          <p:nvPr>
            <p:ph type="sldNum" idx="12"/>
          </p:nvPr>
        </p:nvSpPr>
        <p:spPr bwMode="auto"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accent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9494904" name="Google Shape;6;p3"/>
          <p:cNvSpPr txBox="1"/>
          <p:nvPr>
            <p:ph type="sldNum" idx="12"/>
          </p:nvPr>
        </p:nvSpPr>
        <p:spPr bwMode="auto"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b="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b="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b="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b="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b="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b="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b="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b="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b="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4072523" name="Google Shape;7;p3"/>
          <p:cNvSpPr txBox="1"/>
          <p:nvPr>
            <p:ph type="title"/>
          </p:nvPr>
        </p:nvSpPr>
        <p:spPr bwMode="auto">
          <a:xfrm>
            <a:off x="457200" y="0"/>
            <a:ext cx="8229600" cy="1063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020348456" name="Google Shape;8;p3"/>
          <p:cNvSpPr txBox="1"/>
          <p:nvPr>
            <p:ph type="body" idx="1"/>
          </p:nvPr>
        </p:nvSpPr>
        <p:spPr bwMode="auto">
          <a:xfrm>
            <a:off x="457200" y="1200150"/>
            <a:ext cx="8229600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dt="0" ftr="0" hdr="0" sldNum="1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1068808" name="Google Shape;82;p1"/>
          <p:cNvSpPr txBox="1"/>
          <p:nvPr>
            <p:ph type="title"/>
          </p:nvPr>
        </p:nvSpPr>
        <p:spPr bwMode="auto">
          <a:xfrm flipH="0" flipV="0">
            <a:off x="1410499" y="1119274"/>
            <a:ext cx="7028298" cy="933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399" tIns="91399" rIns="91399" bIns="91399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Open Sans"/>
              <a:buNone/>
              <a:defRPr/>
            </a:pPr>
            <a:r>
              <a:rPr lang="en-US" sz="3600" b="0" i="0" u="none" strike="noStrike" cap="none" spc="0">
                <a:solidFill>
                  <a:srgbClr val="FFFFFF"/>
                </a:solidFill>
                <a:latin typeface="Inter"/>
                <a:ea typeface="Inter"/>
                <a:cs typeface="Inter"/>
              </a:rPr>
              <a:t>draft-ietf-schc-universal-option-02</a:t>
            </a:r>
            <a:endParaRPr sz="3600"/>
          </a:p>
        </p:txBody>
      </p:sp>
      <p:sp>
        <p:nvSpPr>
          <p:cNvPr id="1199089871" name="Google Shape;83;p1"/>
          <p:cNvSpPr txBox="1"/>
          <p:nvPr/>
        </p:nvSpPr>
        <p:spPr bwMode="auto">
          <a:xfrm>
            <a:off x="486917" y="254440"/>
            <a:ext cx="4986900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  <a:defRPr/>
            </a:pPr>
            <a:r>
              <a:rPr lang="fr-FR" sz="21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Nov </a:t>
            </a:r>
            <a:r>
              <a:rPr lang="fr-FR" sz="21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17</a:t>
            </a:r>
            <a:r>
              <a:rPr lang="en-US" sz="2100" b="0" i="0" u="none" strike="noStrike" cap="none" baseline="30000">
                <a:solidFill>
                  <a:srgbClr val="FFFFFF"/>
                </a:solidFill>
                <a:latin typeface="Inter"/>
                <a:ea typeface="Inter"/>
                <a:cs typeface="Inter"/>
              </a:rPr>
              <a:t>th</a:t>
            </a:r>
            <a:r>
              <a:rPr lang="en-US" sz="21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, 2026</a:t>
            </a:r>
            <a:endParaRPr sz="11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129473759" name="Google Shape;84;p1"/>
          <p:cNvSpPr txBox="1"/>
          <p:nvPr/>
        </p:nvSpPr>
        <p:spPr bwMode="auto">
          <a:xfrm>
            <a:off x="191742" y="4416809"/>
            <a:ext cx="3783600" cy="4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IETF 12</a:t>
            </a:r>
            <a:r>
              <a:rPr lang="fr-F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7</a:t>
            </a: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, </a:t>
            </a:r>
            <a:r>
              <a:rPr lang="fr-F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San Francisco</a:t>
            </a: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729467056" name="Google Shape;85;p1"/>
          <p:cNvSpPr txBox="1"/>
          <p:nvPr/>
        </p:nvSpPr>
        <p:spPr bwMode="auto">
          <a:xfrm flipH="0" flipV="0">
            <a:off x="707633" y="2318105"/>
            <a:ext cx="8085298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t" anchorCtr="0">
            <a:noAutofit/>
          </a:bodyPr>
          <a:lstStyle/>
          <a:p>
            <a:pPr>
              <a:defRPr/>
            </a:pPr>
            <a:r>
              <a:rPr lang="en-US" sz="2400" b="0" i="0" u="none" strike="noStrike" cap="none">
                <a:solidFill>
                  <a:srgbClr val="FFF2CC"/>
                </a:solidFill>
                <a:latin typeface="Inter"/>
                <a:ea typeface="Inter"/>
                <a:cs typeface="Inter"/>
              </a:rPr>
              <a:t>Authors: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 Q. Lampin</a:t>
            </a:r>
            <a:r>
              <a:rPr lang="fr-FR" sz="2400" b="0" i="0" u="none" strike="noStrike" cap="none" spc="0">
                <a:solidFill>
                  <a:srgbClr val="FFF2CC"/>
                </a:solidFill>
                <a:latin typeface="Inter"/>
                <a:cs typeface="Inter"/>
              </a:rPr>
              <a:t>,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A. Minaburo</a:t>
            </a:r>
            <a:r>
              <a:rPr lang="fr-FR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,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M. Tiloca</a:t>
            </a:r>
            <a:r>
              <a:rPr lang="fr-FR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,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 L. Toutain</a:t>
            </a:r>
            <a:r>
              <a:rPr lang="fr-FR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,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                                                               S. Sirohi</a:t>
            </a:r>
            <a:endParaRPr lang="en-US" sz="2400" b="0" i="0" u="none" strike="noStrike" cap="none" spc="0">
              <a:solidFill>
                <a:srgbClr val="FFF2CC"/>
              </a:solidFill>
              <a:latin typeface="Inter"/>
              <a:cs typeface="Inter"/>
            </a:endParaRPr>
          </a:p>
        </p:txBody>
      </p:sp>
      <p:pic>
        <p:nvPicPr>
          <p:cNvPr id="763179063" name="Google Shape;86;p1"/>
          <p:cNvPicPr/>
          <p:nvPr/>
        </p:nvPicPr>
        <p:blipFill rotWithShape="1">
          <a:blip r:embed="rId3">
            <a:alphaModFix/>
          </a:blip>
          <a:srcRect l="9711" t="41600" r="22260" b="24843"/>
          <a:stretch/>
        </p:blipFill>
        <p:spPr bwMode="auto">
          <a:xfrm>
            <a:off x="3247925" y="4253649"/>
            <a:ext cx="2861896" cy="767621"/>
          </a:xfrm>
          <a:prstGeom prst="rect">
            <a:avLst/>
          </a:prstGeom>
          <a:noFill/>
          <a:ln>
            <a:noFill/>
          </a:ln>
        </p:spPr>
      </p:pic>
      <p:sp>
        <p:nvSpPr>
          <p:cNvPr id="2088632343" name="Google Shape;87;p1"/>
          <p:cNvSpPr txBox="1"/>
          <p:nvPr/>
        </p:nvSpPr>
        <p:spPr bwMode="auto">
          <a:xfrm>
            <a:off x="707634" y="3178280"/>
            <a:ext cx="5724900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/>
            </a:pPr>
            <a:r>
              <a:rPr lang="en-US" sz="2400" b="0" i="0" u="none" strike="noStrike" cap="none">
                <a:solidFill>
                  <a:srgbClr val="FFF2CC"/>
                </a:solidFill>
                <a:latin typeface="Inter"/>
                <a:ea typeface="Inter"/>
                <a:cs typeface="Inter"/>
              </a:rPr>
              <a:t>Presenter: L. Toutain</a:t>
            </a:r>
            <a:endParaRPr sz="2400" b="0" i="0" u="none" strike="noStrike" cap="none">
              <a:solidFill>
                <a:srgbClr val="FFF2CC"/>
              </a:solidFill>
              <a:latin typeface="Inter"/>
              <a:ea typeface="Inter"/>
              <a:cs typeface="Inter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04541" name="Google Shape;17;p7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fr-FR"/>
              <a:t>Organisation</a:t>
            </a:r>
            <a:endParaRPr/>
          </a:p>
        </p:txBody>
      </p:sp>
      <p:sp>
        <p:nvSpPr>
          <p:cNvPr id="2089490714" name="Google Shape;18;p7"/>
          <p:cNvSpPr txBox="1"/>
          <p:nvPr>
            <p:ph type="sldNum" idx="12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E7069DF2-A800-C5A6-5A3C-B837D3B76972}" type="slidenum">
              <a:rPr lang="en-US"/>
              <a:t>2</a:t>
            </a:fld>
            <a:endParaRPr/>
          </a:p>
        </p:txBody>
      </p:sp>
      <p:sp>
        <p:nvSpPr>
          <p:cNvPr id="1590150237" name="Carré corné 3"/>
          <p:cNvSpPr/>
          <p:nvPr/>
        </p:nvSpPr>
        <p:spPr bwMode="auto">
          <a:xfrm rot="0" flipH="0" flipV="0">
            <a:off x="531825" y="1807306"/>
            <a:ext cx="1056297" cy="1440960"/>
          </a:xfrm>
          <a:prstGeom prst="foldedCorner">
            <a:avLst>
              <a:gd name="adj" fmla="val 16667"/>
            </a:avLst>
          </a:prstGeom>
          <a:solidFill>
            <a:schemeClr val="accent3">
              <a:lumMod val="20000"/>
              <a:lumOff val="80000"/>
            </a:schemeClr>
          </a:solidFill>
          <a:ln w="2540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>
                <a:solidFill>
                  <a:schemeClr val="accent3">
                    <a:lumMod val="75000"/>
                  </a:schemeClr>
                </a:solidFill>
              </a:rPr>
              <a:t>toward-rfc9363bis</a:t>
            </a:r>
            <a:endParaRPr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401883928" name="Google Shape;82;p1"/>
          <p:cNvSpPr txBox="1"/>
          <p:nvPr/>
        </p:nvSpPr>
        <p:spPr bwMode="auto">
          <a:xfrm flipH="0" flipV="0">
            <a:off x="341989" y="81293"/>
            <a:ext cx="7028298" cy="767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399" tIns="91399" rIns="91399" bIns="91399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Open Sans"/>
              <a:buNone/>
              <a:defRPr/>
            </a:pPr>
            <a:r>
              <a:rPr lang="fr-FR" sz="3600" b="0" i="0" u="none" strike="noStrike" cap="none" spc="0">
                <a:solidFill>
                  <a:schemeClr val="tx1"/>
                </a:solidFill>
                <a:latin typeface="Inter"/>
                <a:ea typeface="Inter"/>
                <a:cs typeface="Inter"/>
              </a:rPr>
              <a:t>Drafts organisation</a:t>
            </a:r>
            <a:endParaRPr sz="3600">
              <a:solidFill>
                <a:schemeClr val="tx1"/>
              </a:solidFill>
            </a:endParaRPr>
          </a:p>
        </p:txBody>
      </p:sp>
      <p:sp>
        <p:nvSpPr>
          <p:cNvPr id="1338122916" name="Rectangle 5"/>
          <p:cNvSpPr txBox="1"/>
          <p:nvPr/>
        </p:nvSpPr>
        <p:spPr bwMode="auto">
          <a:xfrm rot="0" flipH="0" flipV="0">
            <a:off x="252465" y="3388700"/>
            <a:ext cx="1615018" cy="27467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interim-2026-schc-13</a:t>
            </a:r>
            <a:endParaRPr/>
          </a:p>
        </p:txBody>
      </p:sp>
      <p:cxnSp>
        <p:nvCxnSpPr>
          <p:cNvPr id="1465657355" name="Ligne 12"/>
          <p:cNvCxnSpPr/>
          <p:nvPr/>
        </p:nvCxnSpPr>
        <p:spPr bwMode="auto">
          <a:xfrm flipH="0" flipV="0">
            <a:off x="2101008" y="842595"/>
            <a:ext cx="0" cy="3260478"/>
          </a:xfrm>
          <a:prstGeom prst="line">
            <a:avLst/>
          </a:prstGeom>
          <a:ln w="9525" cap="flat" cmpd="sng" algn="ctr">
            <a:solidFill>
              <a:srgbClr val="00548A"/>
            </a:solidFill>
            <a:prstDash val="sysDash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7103171" name="Google Shape;17;p7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fr-FR"/>
              <a:t>Organisation</a:t>
            </a:r>
            <a:endParaRPr/>
          </a:p>
        </p:txBody>
      </p:sp>
      <p:sp>
        <p:nvSpPr>
          <p:cNvPr id="873498557" name="Google Shape;18;p7"/>
          <p:cNvSpPr txBox="1"/>
          <p:nvPr>
            <p:ph type="sldNum" idx="12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95C9088C-BFA7-4435-276E-5378911801EB}" type="slidenum">
              <a:rPr lang="en-US"/>
              <a:t>&lt;#&gt;</a:t>
            </a:fld>
            <a:endParaRPr/>
          </a:p>
        </p:txBody>
      </p:sp>
      <p:sp>
        <p:nvSpPr>
          <p:cNvPr id="1165386296" name="Carré corné 3"/>
          <p:cNvSpPr/>
          <p:nvPr/>
        </p:nvSpPr>
        <p:spPr bwMode="auto">
          <a:xfrm rot="0" flipH="0" flipV="0">
            <a:off x="531826" y="1807307"/>
            <a:ext cx="1056297" cy="1440961"/>
          </a:xfrm>
          <a:prstGeom prst="foldedCorner">
            <a:avLst>
              <a:gd name="adj" fmla="val 16667"/>
            </a:avLst>
          </a:prstGeom>
          <a:solidFill>
            <a:schemeClr val="accent3">
              <a:lumMod val="20000"/>
              <a:lumOff val="80000"/>
            </a:schemeClr>
          </a:solidFill>
          <a:ln w="2540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>
                <a:solidFill>
                  <a:schemeClr val="accent3">
                    <a:lumMod val="75000"/>
                  </a:schemeClr>
                </a:solidFill>
              </a:rPr>
              <a:t>toward-rfc9363bis</a:t>
            </a:r>
            <a:endParaRPr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634731486" name="Google Shape;82;p1"/>
          <p:cNvSpPr txBox="1"/>
          <p:nvPr/>
        </p:nvSpPr>
        <p:spPr bwMode="auto">
          <a:xfrm flipH="0" flipV="0">
            <a:off x="341990" y="81294"/>
            <a:ext cx="7028298" cy="767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399" tIns="91399" rIns="91399" bIns="91399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Open Sans"/>
              <a:buNone/>
              <a:defRPr/>
            </a:pPr>
            <a:r>
              <a:rPr lang="fr-FR" sz="3600" b="0" i="0" u="none" strike="noStrike" cap="none" spc="0">
                <a:solidFill>
                  <a:schemeClr val="tx1"/>
                </a:solidFill>
                <a:latin typeface="Inter"/>
                <a:ea typeface="Inter"/>
                <a:cs typeface="Inter"/>
              </a:rPr>
              <a:t>Drafts organisation</a:t>
            </a:r>
            <a:endParaRPr sz="3600">
              <a:solidFill>
                <a:schemeClr val="tx1"/>
              </a:solidFill>
            </a:endParaRPr>
          </a:p>
        </p:txBody>
      </p:sp>
      <p:sp>
        <p:nvSpPr>
          <p:cNvPr id="826928100" name="Rectangle 5"/>
          <p:cNvSpPr txBox="1"/>
          <p:nvPr/>
        </p:nvSpPr>
        <p:spPr bwMode="auto">
          <a:xfrm rot="0" flipH="0" flipV="0">
            <a:off x="252465" y="3388701"/>
            <a:ext cx="1615019" cy="2746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interim-2026-schc-13</a:t>
            </a:r>
            <a:endParaRPr/>
          </a:p>
        </p:txBody>
      </p:sp>
      <p:sp>
        <p:nvSpPr>
          <p:cNvPr id="749009888" name="Carré corné 6"/>
          <p:cNvSpPr/>
          <p:nvPr/>
        </p:nvSpPr>
        <p:spPr bwMode="auto">
          <a:xfrm rot="0" flipH="0" flipV="0">
            <a:off x="2601437" y="848701"/>
            <a:ext cx="1056297" cy="1440960"/>
          </a:xfrm>
          <a:prstGeom prst="foldedCorner">
            <a:avLst>
              <a:gd name="adj" fmla="val 16667"/>
            </a:avLst>
          </a:prstGeom>
          <a:solidFill>
            <a:schemeClr val="accent2">
              <a:lumMod val="20000"/>
              <a:lumOff val="80000"/>
            </a:schemeClr>
          </a:solidFill>
          <a:ln w="25400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>
                <a:solidFill>
                  <a:srgbClr val="00B050"/>
                </a:solidFill>
              </a:rPr>
              <a:t>Universal-option</a:t>
            </a:r>
            <a:endParaRPr>
              <a:solidFill>
                <a:srgbClr val="00B050"/>
              </a:solidFill>
            </a:endParaRPr>
          </a:p>
        </p:txBody>
      </p:sp>
      <p:sp>
        <p:nvSpPr>
          <p:cNvPr id="1105739123" name="Carré corné 7"/>
          <p:cNvSpPr/>
          <p:nvPr/>
        </p:nvSpPr>
        <p:spPr bwMode="auto">
          <a:xfrm rot="0" flipH="0" flipV="0">
            <a:off x="2601437" y="2527788"/>
            <a:ext cx="1056297" cy="1440960"/>
          </a:xfrm>
          <a:prstGeom prst="foldedCorner">
            <a:avLst>
              <a:gd name="adj" fmla="val 16667"/>
            </a:avLst>
          </a:prstGeom>
          <a:solidFill>
            <a:schemeClr val="accent2">
              <a:lumMod val="20000"/>
              <a:lumOff val="80000"/>
            </a:schemeClr>
          </a:solidFill>
          <a:ln w="25400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>
                <a:solidFill>
                  <a:srgbClr val="00B050"/>
                </a:solidFill>
              </a:rPr>
              <a:t>ICMPv6</a:t>
            </a:r>
            <a:endParaRPr>
              <a:solidFill>
                <a:srgbClr val="00B050"/>
              </a:solidFill>
            </a:endParaRPr>
          </a:p>
        </p:txBody>
      </p:sp>
      <p:cxnSp>
        <p:nvCxnSpPr>
          <p:cNvPr id="1625120612" name="Ligne 12"/>
          <p:cNvCxnSpPr/>
          <p:nvPr/>
        </p:nvCxnSpPr>
        <p:spPr bwMode="auto">
          <a:xfrm flipH="0" flipV="0">
            <a:off x="2101009" y="842595"/>
            <a:ext cx="0" cy="3260480"/>
          </a:xfrm>
          <a:prstGeom prst="line">
            <a:avLst/>
          </a:prstGeom>
          <a:ln w="9525" cap="flat" cmpd="sng" algn="ctr">
            <a:solidFill>
              <a:srgbClr val="00548A"/>
            </a:solidFill>
            <a:prstDash val="sysDash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98499" name="Google Shape;17;p7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fr-FR"/>
              <a:t>Organisation</a:t>
            </a:r>
            <a:endParaRPr/>
          </a:p>
        </p:txBody>
      </p:sp>
      <p:sp>
        <p:nvSpPr>
          <p:cNvPr id="503928836" name="Google Shape;18;p7"/>
          <p:cNvSpPr txBox="1"/>
          <p:nvPr>
            <p:ph type="sldNum" idx="12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8AAE9C0E-247F-E845-CDB3-26D67C46257D}" type="slidenum">
              <a:rPr lang="en-US"/>
              <a:t>2</a:t>
            </a:fld>
            <a:endParaRPr/>
          </a:p>
        </p:txBody>
      </p:sp>
      <p:sp>
        <p:nvSpPr>
          <p:cNvPr id="1798498004" name="Carré corné 3"/>
          <p:cNvSpPr/>
          <p:nvPr/>
        </p:nvSpPr>
        <p:spPr bwMode="auto">
          <a:xfrm rot="0" flipH="0" flipV="0">
            <a:off x="531825" y="1807306"/>
            <a:ext cx="1056297" cy="1440960"/>
          </a:xfrm>
          <a:prstGeom prst="foldedCorner">
            <a:avLst>
              <a:gd name="adj" fmla="val 16667"/>
            </a:avLst>
          </a:prstGeom>
          <a:solidFill>
            <a:schemeClr val="accent3">
              <a:lumMod val="20000"/>
              <a:lumOff val="80000"/>
            </a:schemeClr>
          </a:solidFill>
          <a:ln w="2540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>
                <a:solidFill>
                  <a:schemeClr val="accent3">
                    <a:lumMod val="75000"/>
                  </a:schemeClr>
                </a:solidFill>
              </a:rPr>
              <a:t>toward-rfc9363bis</a:t>
            </a:r>
            <a:endParaRPr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408774635" name="Google Shape;82;p1"/>
          <p:cNvSpPr txBox="1"/>
          <p:nvPr/>
        </p:nvSpPr>
        <p:spPr bwMode="auto">
          <a:xfrm flipH="0" flipV="0">
            <a:off x="341989" y="81293"/>
            <a:ext cx="7028298" cy="767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399" tIns="91399" rIns="91399" bIns="91399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Open Sans"/>
              <a:buNone/>
              <a:defRPr/>
            </a:pPr>
            <a:r>
              <a:rPr lang="fr-FR" sz="3600" b="0" i="0" u="none" strike="noStrike" cap="none" spc="0">
                <a:solidFill>
                  <a:schemeClr val="tx1"/>
                </a:solidFill>
                <a:latin typeface="Inter"/>
                <a:ea typeface="Inter"/>
                <a:cs typeface="Inter"/>
              </a:rPr>
              <a:t>Drafts organisation</a:t>
            </a:r>
            <a:endParaRPr sz="3600">
              <a:solidFill>
                <a:schemeClr val="tx1"/>
              </a:solidFill>
            </a:endParaRPr>
          </a:p>
        </p:txBody>
      </p:sp>
      <p:sp>
        <p:nvSpPr>
          <p:cNvPr id="1163574333" name="Rectangle 5"/>
          <p:cNvSpPr txBox="1"/>
          <p:nvPr/>
        </p:nvSpPr>
        <p:spPr bwMode="auto">
          <a:xfrm rot="0" flipH="0" flipV="0">
            <a:off x="252465" y="3388700"/>
            <a:ext cx="1615018" cy="27467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</a:rPr>
              <a:t>interim-2026-schc-13</a:t>
            </a:r>
            <a:endParaRPr/>
          </a:p>
        </p:txBody>
      </p:sp>
      <p:sp>
        <p:nvSpPr>
          <p:cNvPr id="1900860094" name="Carré corné 6"/>
          <p:cNvSpPr/>
          <p:nvPr/>
        </p:nvSpPr>
        <p:spPr bwMode="auto">
          <a:xfrm rot="0" flipH="0" flipV="0">
            <a:off x="2601436" y="848700"/>
            <a:ext cx="1056297" cy="1440960"/>
          </a:xfrm>
          <a:prstGeom prst="foldedCorner">
            <a:avLst>
              <a:gd name="adj" fmla="val 16667"/>
            </a:avLst>
          </a:prstGeom>
          <a:solidFill>
            <a:schemeClr val="accent2">
              <a:lumMod val="20000"/>
              <a:lumOff val="80000"/>
            </a:schemeClr>
          </a:solidFill>
          <a:ln w="25400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>
                <a:solidFill>
                  <a:srgbClr val="00B050"/>
                </a:solidFill>
              </a:rPr>
              <a:t>Universal-option</a:t>
            </a:r>
            <a:endParaRPr>
              <a:solidFill>
                <a:srgbClr val="00B050"/>
              </a:solidFill>
            </a:endParaRPr>
          </a:p>
        </p:txBody>
      </p:sp>
      <p:sp>
        <p:nvSpPr>
          <p:cNvPr id="912679452" name="Carré corné 7"/>
          <p:cNvSpPr/>
          <p:nvPr/>
        </p:nvSpPr>
        <p:spPr bwMode="auto">
          <a:xfrm rot="0" flipH="0" flipV="0">
            <a:off x="2601436" y="2527787"/>
            <a:ext cx="1056297" cy="1440960"/>
          </a:xfrm>
          <a:prstGeom prst="foldedCorner">
            <a:avLst>
              <a:gd name="adj" fmla="val 16667"/>
            </a:avLst>
          </a:prstGeom>
          <a:solidFill>
            <a:schemeClr val="accent2">
              <a:lumMod val="20000"/>
              <a:lumOff val="80000"/>
            </a:schemeClr>
          </a:solidFill>
          <a:ln w="25400" cap="flat" cmpd="sng" algn="ctr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>
                <a:solidFill>
                  <a:srgbClr val="00B050"/>
                </a:solidFill>
              </a:rPr>
              <a:t>ICMPv6</a:t>
            </a:r>
            <a:endParaRPr>
              <a:solidFill>
                <a:srgbClr val="00B050"/>
              </a:solidFill>
            </a:endParaRPr>
          </a:p>
        </p:txBody>
      </p:sp>
      <p:sp>
        <p:nvSpPr>
          <p:cNvPr id="957749550" name="Carré corné 8"/>
          <p:cNvSpPr/>
          <p:nvPr/>
        </p:nvSpPr>
        <p:spPr bwMode="auto">
          <a:xfrm rot="0" flipH="0" flipV="0">
            <a:off x="4090999" y="848700"/>
            <a:ext cx="1056297" cy="1440960"/>
          </a:xfrm>
          <a:prstGeom prst="foldedCorner">
            <a:avLst>
              <a:gd name="adj" fmla="val 16667"/>
            </a:avLst>
          </a:prstGeom>
          <a:solidFill>
            <a:schemeClr val="tx1">
              <a:lumMod val="10000"/>
              <a:lumOff val="90000"/>
            </a:schemeClr>
          </a:solidFill>
          <a:ln w="25400" cap="flat" cmpd="sng" algn="ctr">
            <a:solidFill>
              <a:schemeClr val="bg1">
                <a:lumMod val="74901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>
                <a:solidFill>
                  <a:schemeClr val="bg1">
                    <a:lumMod val="75000"/>
                  </a:schemeClr>
                </a:solidFill>
              </a:rPr>
              <a:t>Coreconf-management</a:t>
            </a:r>
            <a:endParaRPr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552576603" name="Carré corné 9"/>
          <p:cNvSpPr/>
          <p:nvPr/>
        </p:nvSpPr>
        <p:spPr bwMode="auto">
          <a:xfrm rot="0" flipH="0" flipV="0">
            <a:off x="6313989" y="1807306"/>
            <a:ext cx="1056297" cy="1440960"/>
          </a:xfrm>
          <a:prstGeom prst="foldedCorner">
            <a:avLst>
              <a:gd name="adj" fmla="val 16667"/>
            </a:avLst>
          </a:prstGeom>
          <a:solidFill>
            <a:schemeClr val="tx1">
              <a:lumMod val="10000"/>
              <a:lumOff val="90000"/>
            </a:schemeClr>
          </a:solidFill>
          <a:ln w="25400" cap="flat" cmpd="sng" algn="ctr">
            <a:solidFill>
              <a:schemeClr val="bg1">
                <a:lumMod val="74901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fr-FR">
                <a:solidFill>
                  <a:schemeClr val="bg1">
                    <a:lumMod val="75000"/>
                  </a:schemeClr>
                </a:solidFill>
              </a:rPr>
              <a:t>RFC9363</a:t>
            </a:r>
            <a:endParaRPr>
              <a:solidFill>
                <a:schemeClr val="bg1">
                  <a:lumMod val="75000"/>
                </a:schemeClr>
              </a:solidFill>
            </a:endParaRPr>
          </a:p>
          <a:p>
            <a:pPr algn="ctr">
              <a:defRPr/>
            </a:pPr>
            <a:r>
              <a:rPr lang="fr-FR">
                <a:solidFill>
                  <a:schemeClr val="bg1">
                    <a:lumMod val="75000"/>
                  </a:schemeClr>
                </a:solidFill>
              </a:rPr>
              <a:t>bis</a:t>
            </a:r>
            <a:endParaRPr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77051800" name="Accolade fermante 11"/>
          <p:cNvSpPr/>
          <p:nvPr/>
        </p:nvSpPr>
        <p:spPr bwMode="auto">
          <a:xfrm rot="0" flipH="0" flipV="0">
            <a:off x="5617931" y="842595"/>
            <a:ext cx="396873" cy="3193317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cxnSp>
        <p:nvCxnSpPr>
          <p:cNvPr id="452540013" name="Ligne 12"/>
          <p:cNvCxnSpPr/>
          <p:nvPr/>
        </p:nvCxnSpPr>
        <p:spPr bwMode="auto">
          <a:xfrm flipH="0" flipV="0">
            <a:off x="2101008" y="842595"/>
            <a:ext cx="0" cy="3260478"/>
          </a:xfrm>
          <a:prstGeom prst="line">
            <a:avLst/>
          </a:prstGeom>
          <a:ln w="9525" cap="flat" cmpd="sng" algn="ctr">
            <a:solidFill>
              <a:srgbClr val="00548A"/>
            </a:solidFill>
            <a:prstDash val="sysDash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5884200" name="Google Shape;82;p1"/>
          <p:cNvSpPr txBox="1"/>
          <p:nvPr>
            <p:ph type="title"/>
          </p:nvPr>
        </p:nvSpPr>
        <p:spPr bwMode="auto">
          <a:xfrm flipH="0" flipV="0">
            <a:off x="1410498" y="1119273"/>
            <a:ext cx="7028298" cy="933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398" tIns="91398" rIns="91398" bIns="91398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Open Sans"/>
              <a:buNone/>
              <a:defRPr/>
            </a:pPr>
            <a:r>
              <a:rPr lang="en-US" sz="3600" b="0" i="0" u="none" strike="noStrike" cap="none" spc="0">
                <a:solidFill>
                  <a:srgbClr val="FFFFFF"/>
                </a:solidFill>
                <a:latin typeface="Inter"/>
                <a:ea typeface="Inter"/>
                <a:cs typeface="Inter"/>
              </a:rPr>
              <a:t>draft-ietf-schc-universal-option-02</a:t>
            </a:r>
            <a:endParaRPr sz="3600"/>
          </a:p>
        </p:txBody>
      </p:sp>
      <p:sp>
        <p:nvSpPr>
          <p:cNvPr id="1761413960" name="Google Shape;83;p1"/>
          <p:cNvSpPr txBox="1"/>
          <p:nvPr/>
        </p:nvSpPr>
        <p:spPr bwMode="auto">
          <a:xfrm>
            <a:off x="486916" y="254439"/>
            <a:ext cx="4986900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399" tIns="91399" rIns="91399" bIns="91399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  <a:defRPr/>
            </a:pPr>
            <a:r>
              <a:rPr lang="fr-FR" sz="21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Nov </a:t>
            </a:r>
            <a:r>
              <a:rPr lang="fr-FR" sz="21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17</a:t>
            </a:r>
            <a:r>
              <a:rPr lang="en-US" sz="2100" b="0" i="0" u="none" strike="noStrike" cap="none" baseline="30000">
                <a:solidFill>
                  <a:srgbClr val="FFFFFF"/>
                </a:solidFill>
                <a:latin typeface="Inter"/>
                <a:ea typeface="Inter"/>
                <a:cs typeface="Inter"/>
              </a:rPr>
              <a:t>th</a:t>
            </a:r>
            <a:r>
              <a:rPr lang="en-US" sz="21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, 2026</a:t>
            </a:r>
            <a:endParaRPr sz="11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191628723" name="Google Shape;84;p1"/>
          <p:cNvSpPr txBox="1"/>
          <p:nvPr/>
        </p:nvSpPr>
        <p:spPr bwMode="auto">
          <a:xfrm>
            <a:off x="191741" y="4416808"/>
            <a:ext cx="3783600" cy="441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IETF 12</a:t>
            </a:r>
            <a:r>
              <a:rPr lang="fr-F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7</a:t>
            </a: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, </a:t>
            </a:r>
            <a:r>
              <a:rPr lang="fr-F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San Francisco</a:t>
            </a: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879106654" name="Google Shape;85;p1"/>
          <p:cNvSpPr txBox="1"/>
          <p:nvPr/>
        </p:nvSpPr>
        <p:spPr bwMode="auto">
          <a:xfrm flipH="0" flipV="0">
            <a:off x="707632" y="2318105"/>
            <a:ext cx="8085297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t" anchorCtr="0">
            <a:noAutofit/>
          </a:bodyPr>
          <a:lstStyle/>
          <a:p>
            <a:pPr>
              <a:defRPr/>
            </a:pPr>
            <a:r>
              <a:rPr lang="en-US" sz="2400" b="0" i="0" u="none" strike="noStrike" cap="none">
                <a:solidFill>
                  <a:srgbClr val="FFF2CC"/>
                </a:solidFill>
                <a:latin typeface="Inter"/>
                <a:ea typeface="Inter"/>
                <a:cs typeface="Inter"/>
              </a:rPr>
              <a:t>Authors: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 Q. Lampin</a:t>
            </a:r>
            <a:r>
              <a:rPr lang="fr-FR" sz="2400" b="0" i="0" u="none" strike="noStrike" cap="none" spc="0">
                <a:solidFill>
                  <a:srgbClr val="FFF2CC"/>
                </a:solidFill>
                <a:latin typeface="Inter"/>
                <a:cs typeface="Inter"/>
              </a:rPr>
              <a:t>,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A. Minaburo</a:t>
            </a:r>
            <a:r>
              <a:rPr lang="fr-FR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,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M. Tiloca</a:t>
            </a:r>
            <a:r>
              <a:rPr lang="fr-FR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,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 L. Toutain</a:t>
            </a:r>
            <a:r>
              <a:rPr lang="fr-FR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,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                                                               S. Sirohi</a:t>
            </a:r>
            <a:endParaRPr lang="en-US" sz="2400" b="0" i="0" u="none" strike="noStrike" cap="none" spc="0">
              <a:solidFill>
                <a:srgbClr val="FFF2CC"/>
              </a:solidFill>
              <a:latin typeface="Inter"/>
              <a:cs typeface="Inter"/>
            </a:endParaRPr>
          </a:p>
        </p:txBody>
      </p:sp>
      <p:pic>
        <p:nvPicPr>
          <p:cNvPr id="1292434270" name="Google Shape;86;p1"/>
          <p:cNvPicPr/>
          <p:nvPr/>
        </p:nvPicPr>
        <p:blipFill rotWithShape="1">
          <a:blip r:embed="rId3">
            <a:alphaModFix/>
          </a:blip>
          <a:srcRect l="9711" t="41600" r="22260" b="24843"/>
          <a:stretch/>
        </p:blipFill>
        <p:spPr bwMode="auto">
          <a:xfrm>
            <a:off x="3247924" y="4253648"/>
            <a:ext cx="2861895" cy="767620"/>
          </a:xfrm>
          <a:prstGeom prst="rect">
            <a:avLst/>
          </a:prstGeom>
          <a:noFill/>
          <a:ln>
            <a:noFill/>
          </a:ln>
        </p:spPr>
      </p:pic>
      <p:sp>
        <p:nvSpPr>
          <p:cNvPr id="1688575283" name="Google Shape;87;p1"/>
          <p:cNvSpPr txBox="1"/>
          <p:nvPr/>
        </p:nvSpPr>
        <p:spPr bwMode="auto">
          <a:xfrm>
            <a:off x="707634" y="3178279"/>
            <a:ext cx="5724900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/>
            </a:pPr>
            <a:r>
              <a:rPr lang="en-US" sz="2400" b="0" i="0" u="none" strike="noStrike" cap="none">
                <a:solidFill>
                  <a:srgbClr val="FFF2CC"/>
                </a:solidFill>
                <a:latin typeface="Inter"/>
                <a:ea typeface="Inter"/>
                <a:cs typeface="Inter"/>
              </a:rPr>
              <a:t>Presenter: L. Toutain</a:t>
            </a:r>
            <a:endParaRPr sz="2400" b="0" i="0" u="none" strike="noStrike" cap="none">
              <a:solidFill>
                <a:srgbClr val="FFF2CC"/>
              </a:solidFill>
              <a:latin typeface="Inter"/>
              <a:ea typeface="Inter"/>
              <a:cs typeface="Inter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940003" name="Google Shape;17;p7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714419" name="Google Shape;18;p7"/>
          <p:cNvSpPr txBox="1"/>
          <p:nvPr>
            <p:ph type="sldNum" idx="12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A5256084-C436-F243-0549-1CA564B92C30}" type="slidenum">
              <a:rPr lang="en-US"/>
              <a:t>2</a:t>
            </a:fld>
            <a:endParaRPr/>
          </a:p>
        </p:txBody>
      </p:sp>
      <p:sp>
        <p:nvSpPr>
          <p:cNvPr id="1822095462" name="Rectangle 3"/>
          <p:cNvSpPr txBox="1"/>
          <p:nvPr/>
        </p:nvSpPr>
        <p:spPr bwMode="auto">
          <a:xfrm rot="0" flipH="0" flipV="0">
            <a:off x="57150" y="112270"/>
            <a:ext cx="4193159" cy="19053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  /-----------------------------------------------------------------\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  |                         Rule N                                  |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 /-----------------------------------------------------------------\|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 |                       Rule i                                    ||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/-----------------------------------------------------------------\||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|  (FID)            Rule 1                                        |||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|+-------+--+--+--+------------+-----------------+---------------+|||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||Field 1|FL|FP|DI|Target Value|Matching Operator|Comp/Decomp Act||||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|+-------+--+--+--+------------+-----------------+---------------+|||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||Field 2|FL|FP|DI|Target Value|Matching Operator|Comp/Decomp Act||||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|+-------+--+--+--+------------+-----------------+---------------+|||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||...    |..|..|..|   ...      | ...             | ...           ||||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|+-------+--+--+--+------------+-----------------+---------------+||/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||Field N|FL|FP|DI|Target Value|Matching Operator|Comp/Decomp Act|||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|+-------+--+--+--+------------+-----------------+---------------+|/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|                                                                 |</a:t>
            </a:r>
            <a:endParaRPr sz="700" b="1">
              <a:latin typeface="Courier New"/>
              <a:cs typeface="Courier New"/>
            </a:endParaRPr>
          </a:p>
          <a:p>
            <a:pPr algn="l">
              <a:defRPr/>
            </a:pPr>
            <a:r>
              <a:rPr sz="700" b="1">
                <a:latin typeface="Courier New"/>
                <a:ea typeface="Courier New"/>
                <a:cs typeface="Courier New"/>
              </a:rPr>
              <a:t>\-----------------------------------------------------------------/</a:t>
            </a:r>
            <a:endParaRPr sz="700" b="1">
              <a:latin typeface="Courier New"/>
              <a:cs typeface="Courier New"/>
            </a:endParaRPr>
          </a:p>
        </p:txBody>
      </p:sp>
      <p:sp>
        <p:nvSpPr>
          <p:cNvPr id="1738362016" name="Shape 4"/>
          <p:cNvSpPr/>
          <p:nvPr/>
        </p:nvSpPr>
        <p:spPr bwMode="auto">
          <a:xfrm>
            <a:off x="3153484" y="112270"/>
            <a:ext cx="6120064" cy="2682599"/>
          </a:xfrm>
          <a:prstGeom prst="rect">
            <a:avLst/>
          </a:prstGeom>
          <a:solidFill>
            <a:schemeClr val="accent4">
              <a:alpha val="99999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x--:(compression) {compression}?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x--rw entry* [field-id field-position direction-indicator]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field-id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schc:fid-type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field-length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union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field-position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uint8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direction-indicator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schc:di-type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target-value* [index]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index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uint16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value?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binary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matching-operator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schc:mo-type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matching-operator-value* [index]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index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uint16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value?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binary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comp-decomp-action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schc:cda-type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comp-decomp-action-value* [index]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index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uint16</a:t>
            </a:r>
            <a:endParaRPr sz="1000"/>
          </a:p>
          <a:p>
            <a:pPr>
              <a:defRPr/>
            </a:pP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value?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10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binary</a:t>
            </a:r>
            <a:endParaRPr sz="1000"/>
          </a:p>
        </p:txBody>
      </p:sp>
      <p:sp>
        <p:nvSpPr>
          <p:cNvPr id="2078569058" name="Rectangle 5"/>
          <p:cNvSpPr/>
          <p:nvPr/>
        </p:nvSpPr>
        <p:spPr bwMode="auto">
          <a:xfrm rot="0" flipH="0" flipV="0">
            <a:off x="232643" y="885336"/>
            <a:ext cx="384663" cy="134326"/>
          </a:xfrm>
          <a:prstGeom prst="rect">
            <a:avLst/>
          </a:prstGeom>
          <a:solidFill>
            <a:schemeClr val="accent1">
              <a:alpha val="42000"/>
            </a:schemeClr>
          </a:solidFill>
          <a:ln w="254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604261" name="Rectangle 6"/>
          <p:cNvSpPr txBox="1"/>
          <p:nvPr/>
        </p:nvSpPr>
        <p:spPr bwMode="auto">
          <a:xfrm rot="0" flipH="0" flipV="0">
            <a:off x="220374" y="2528600"/>
            <a:ext cx="4027775" cy="731879"/>
          </a:xfrm>
          <a:prstGeom prst="rect">
            <a:avLst/>
          </a:prstGeom>
          <a:solidFill>
            <a:schemeClr val="bg1">
              <a:lumMod val="40000"/>
              <a:lumOff val="60000"/>
            </a:schemeClr>
          </a:solidFill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Field ID : definied as an identity in the YANG DM</a:t>
            </a:r>
            <a:endParaRPr lang="fr-FR"/>
          </a:p>
          <a:p>
            <a:pPr marL="239821" indent="-239821">
              <a:buFont typeface="Arial"/>
              <a:buChar char="•"/>
              <a:defRPr/>
            </a:pPr>
            <a:r>
              <a:rPr lang="fr-FR"/>
              <a:t>Evolution is difficult</a:t>
            </a:r>
            <a:endParaRPr lang="fr-FR"/>
          </a:p>
          <a:p>
            <a:pPr>
              <a:defRPr/>
            </a:pPr>
            <a:r>
              <a:rPr lang="fr-FR"/>
              <a:t>Universal Option : Space ID and option number.</a:t>
            </a:r>
            <a:endParaRPr/>
          </a:p>
        </p:txBody>
      </p:sp>
      <p:sp>
        <p:nvSpPr>
          <p:cNvPr id="929472342" name="Rectangle 7"/>
          <p:cNvSpPr/>
          <p:nvPr/>
        </p:nvSpPr>
        <p:spPr bwMode="auto">
          <a:xfrm rot="0" flipH="0" flipV="0">
            <a:off x="214326" y="1520336"/>
            <a:ext cx="421297" cy="140432"/>
          </a:xfrm>
          <a:prstGeom prst="rect">
            <a:avLst/>
          </a:prstGeom>
          <a:solidFill>
            <a:schemeClr val="accent2">
              <a:lumMod val="60000"/>
              <a:lumOff val="40000"/>
              <a:alpha val="42000"/>
            </a:schemeClr>
          </a:solidFill>
          <a:ln w="254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70362150" name="Rectangle 8"/>
          <p:cNvSpPr/>
          <p:nvPr/>
        </p:nvSpPr>
        <p:spPr bwMode="auto">
          <a:xfrm rot="0" flipH="0" flipV="0">
            <a:off x="788023" y="1520336"/>
            <a:ext cx="317745" cy="140431"/>
          </a:xfrm>
          <a:prstGeom prst="rect">
            <a:avLst/>
          </a:prstGeom>
          <a:solidFill>
            <a:schemeClr val="accent2">
              <a:lumMod val="60000"/>
              <a:lumOff val="40000"/>
              <a:alpha val="42000"/>
            </a:schemeClr>
          </a:solidFill>
          <a:ln w="254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45241853" name="Rectangle 9"/>
          <p:cNvSpPr txBox="1"/>
          <p:nvPr/>
        </p:nvSpPr>
        <p:spPr bwMode="auto">
          <a:xfrm rot="0" flipH="0" flipV="0">
            <a:off x="757740" y="3681778"/>
            <a:ext cx="914400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555306006" name="Rectangle 10"/>
          <p:cNvSpPr/>
          <p:nvPr/>
        </p:nvSpPr>
        <p:spPr bwMode="auto">
          <a:xfrm rot="0" flipH="0" flipV="0">
            <a:off x="4994899" y="463793"/>
            <a:ext cx="653561" cy="134325"/>
          </a:xfrm>
          <a:prstGeom prst="rect">
            <a:avLst/>
          </a:prstGeom>
          <a:solidFill>
            <a:schemeClr val="accent1">
              <a:alpha val="42000"/>
            </a:schemeClr>
          </a:solidFill>
          <a:ln w="254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25381295" name="Rectangle 11"/>
          <p:cNvSpPr/>
          <p:nvPr/>
        </p:nvSpPr>
        <p:spPr bwMode="auto">
          <a:xfrm rot="0" flipH="0" flipV="0">
            <a:off x="5373456" y="323361"/>
            <a:ext cx="3266831" cy="140431"/>
          </a:xfrm>
          <a:prstGeom prst="rect">
            <a:avLst/>
          </a:prstGeom>
          <a:solidFill>
            <a:schemeClr val="accent2">
              <a:lumMod val="60000"/>
              <a:lumOff val="40000"/>
              <a:alpha val="42000"/>
            </a:schemeClr>
          </a:solidFill>
          <a:ln w="254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02740400" name="Rectangle 12"/>
          <p:cNvSpPr txBox="1"/>
          <p:nvPr/>
        </p:nvSpPr>
        <p:spPr bwMode="auto">
          <a:xfrm rot="0" flipH="0" flipV="0">
            <a:off x="214326" y="3361738"/>
            <a:ext cx="4061180" cy="11585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Compression entry’s key : 3 elements</a:t>
            </a:r>
            <a:endParaRPr lang="fr-FR"/>
          </a:p>
          <a:p>
            <a:pPr marL="239821" indent="-239821">
              <a:buFont typeface="Arial"/>
              <a:buChar char="•"/>
              <a:defRPr/>
            </a:pPr>
            <a:r>
              <a:rPr lang="fr-FR"/>
              <a:t>Long sequence in CORECONF messages</a:t>
            </a:r>
            <a:endParaRPr lang="fr-FR"/>
          </a:p>
          <a:p>
            <a:pPr marL="239821" indent="-239821">
              <a:buFont typeface="Arial"/>
              <a:buChar char="•"/>
              <a:defRPr/>
            </a:pPr>
            <a:r>
              <a:rPr lang="fr-FR"/>
              <a:t>Independant of the position in rule</a:t>
            </a:r>
            <a:endParaRPr lang="fr-FR"/>
          </a:p>
          <a:p>
            <a:pPr>
              <a:defRPr/>
            </a:pPr>
            <a:r>
              <a:rPr lang="fr-FR"/>
              <a:t>Universal Option =&gt; add another element</a:t>
            </a:r>
            <a:endParaRPr lang="fr-FR"/>
          </a:p>
          <a:p>
            <a:pPr>
              <a:defRPr/>
            </a:pPr>
            <a:r>
              <a:rPr lang="fr-FR"/>
              <a:t>Change the key structure</a:t>
            </a: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920168" name="Google Shape;17;p7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fr-FR"/>
              <a:t>Compression-universal</a:t>
            </a:r>
            <a:endParaRPr/>
          </a:p>
        </p:txBody>
      </p:sp>
      <p:sp>
        <p:nvSpPr>
          <p:cNvPr id="864827654" name="Google Shape;18;p7"/>
          <p:cNvSpPr txBox="1"/>
          <p:nvPr>
            <p:ph type="sldNum" idx="12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262472B9-D1B0-7958-9CE4-0A4E35473586}" type="slidenum">
              <a:rPr lang="en-US"/>
              <a:t>6</a:t>
            </a:fld>
            <a:endParaRPr/>
          </a:p>
        </p:txBody>
      </p:sp>
      <p:sp>
        <p:nvSpPr>
          <p:cNvPr id="1271242498" name="Shape 3"/>
          <p:cNvSpPr/>
          <p:nvPr/>
        </p:nvSpPr>
        <p:spPr bwMode="auto">
          <a:xfrm flipH="0" flipV="0">
            <a:off x="-431311" y="434183"/>
            <a:ext cx="4163281" cy="201204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x--:(compression) {compression}?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x--rw entry* [field-id field-position direction-indicator]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field-id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schc:fid-type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field-length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union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field-position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uint8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direction-indicator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schc:di-type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target-value* [index]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index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uint16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value?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binary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matching-operator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schc:mo-type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matching-operator-value* [index]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index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uint16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value?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binary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comp-decomp-action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schc:cda-type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comp-decomp-action-value* [index]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index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uint16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value?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binary</a:t>
            </a:r>
            <a:endParaRPr sz="700"/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</a:t>
            </a:r>
            <a:endParaRPr sz="700"/>
          </a:p>
        </p:txBody>
      </p:sp>
      <p:sp>
        <p:nvSpPr>
          <p:cNvPr id="1778036395" name="Shape 4"/>
          <p:cNvSpPr/>
          <p:nvPr/>
        </p:nvSpPr>
        <p:spPr bwMode="auto">
          <a:xfrm flipH="0" flipV="0">
            <a:off x="4471034" y="434183"/>
            <a:ext cx="4264392" cy="3185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x--:(compression) {compression}?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+--:(compression-universal) {compression or management}?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entry-universal* [entry-index]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entry-index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uint16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(field-or-space)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+--:(regular-field)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field-id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schc:fid-type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+--:(universal-option)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space-id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schc:space-id-type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universal-value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uint64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field-length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union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field-length-value?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uint16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field-position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uint8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direction-indicator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schc:di-type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target-value* [index]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index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uint16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value?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binary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matching-operator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schc:mo-type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matching-operator-value* [index]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index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uint16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value?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binary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comp-decomp-action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schc:cda-type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comp-decomp-action-value* [index]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index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uint16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|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value?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binary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action?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action-type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action-value* [index]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index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uint16</a:t>
            </a:r>
            <a:endParaRPr sz="700">
              <a:latin typeface="Menlo"/>
              <a:ea typeface="Menlo"/>
              <a:cs typeface="Menlo"/>
            </a:endParaRPr>
          </a:p>
          <a:p>
            <a:pPr>
              <a:defRPr/>
            </a:pP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             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+--rw value?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  </a:t>
            </a:r>
            <a:r>
              <a:rPr sz="700" b="0" i="0" u="none">
                <a:solidFill>
                  <a:srgbClr val="000000"/>
                </a:solidFill>
                <a:latin typeface="Menlo"/>
                <a:ea typeface="Menlo"/>
                <a:cs typeface="Menlo"/>
              </a:rPr>
              <a:t>binary</a:t>
            </a:r>
            <a:endParaRPr sz="700">
              <a:latin typeface="Menlo"/>
              <a:ea typeface="Menlo"/>
              <a:cs typeface="Menlo"/>
            </a:endParaRPr>
          </a:p>
        </p:txBody>
      </p:sp>
      <p:sp>
        <p:nvSpPr>
          <p:cNvPr id="729292707" name="Rectangle 5"/>
          <p:cNvSpPr txBox="1"/>
          <p:nvPr/>
        </p:nvSpPr>
        <p:spPr bwMode="auto">
          <a:xfrm rot="0" flipH="0" flipV="0">
            <a:off x="1374422" y="129023"/>
            <a:ext cx="1102803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Deprecated</a:t>
            </a:r>
            <a:endParaRPr/>
          </a:p>
        </p:txBody>
      </p:sp>
      <p:sp>
        <p:nvSpPr>
          <p:cNvPr id="1892777657" name="Rectangle 6"/>
          <p:cNvSpPr/>
          <p:nvPr/>
        </p:nvSpPr>
        <p:spPr bwMode="auto">
          <a:xfrm rot="0" flipH="0" flipV="0">
            <a:off x="6533798" y="653072"/>
            <a:ext cx="781538" cy="140431"/>
          </a:xfrm>
          <a:prstGeom prst="rect">
            <a:avLst/>
          </a:prstGeom>
          <a:solidFill>
            <a:schemeClr val="accent2">
              <a:lumMod val="60000"/>
              <a:lumOff val="40000"/>
              <a:alpha val="42000"/>
            </a:schemeClr>
          </a:solidFill>
          <a:ln w="254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93414765" name="Rectangle 7"/>
          <p:cNvSpPr/>
          <p:nvPr/>
        </p:nvSpPr>
        <p:spPr bwMode="auto">
          <a:xfrm rot="0" flipH="0" flipV="0">
            <a:off x="1136053" y="582856"/>
            <a:ext cx="2338753" cy="140431"/>
          </a:xfrm>
          <a:prstGeom prst="rect">
            <a:avLst/>
          </a:prstGeom>
          <a:solidFill>
            <a:schemeClr val="accent2">
              <a:lumMod val="60000"/>
              <a:lumOff val="40000"/>
              <a:alpha val="42000"/>
            </a:schemeClr>
          </a:solidFill>
          <a:ln w="254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86273595" name="Rectangle 8"/>
          <p:cNvSpPr/>
          <p:nvPr/>
        </p:nvSpPr>
        <p:spPr bwMode="auto">
          <a:xfrm rot="0" flipH="0" flipV="0">
            <a:off x="5617688" y="1031385"/>
            <a:ext cx="2705099" cy="513374"/>
          </a:xfrm>
          <a:prstGeom prst="rect">
            <a:avLst/>
          </a:prstGeom>
          <a:solidFill>
            <a:schemeClr val="accent6">
              <a:lumMod val="20000"/>
              <a:lumOff val="80000"/>
              <a:alpha val="42000"/>
            </a:schemeClr>
          </a:solidFill>
          <a:ln w="254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74319793" name="Rectangle 9"/>
          <p:cNvSpPr txBox="1"/>
          <p:nvPr/>
        </p:nvSpPr>
        <p:spPr bwMode="auto">
          <a:xfrm rot="0" flipH="0" flipV="0">
            <a:off x="412906" y="2446223"/>
            <a:ext cx="1923032" cy="30515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Key is a single integer</a:t>
            </a:r>
            <a:endParaRPr/>
          </a:p>
        </p:txBody>
      </p:sp>
      <p:sp>
        <p:nvSpPr>
          <p:cNvPr id="497144424" name="Rectangle 10"/>
          <p:cNvSpPr txBox="1"/>
          <p:nvPr/>
        </p:nvSpPr>
        <p:spPr bwMode="auto">
          <a:xfrm rot="0" flipH="0" flipV="0">
            <a:off x="412906" y="2814759"/>
            <a:ext cx="2555398" cy="9452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FID is either :</a:t>
            </a:r>
            <a:endParaRPr lang="fr-FR"/>
          </a:p>
          <a:p>
            <a:pPr marL="239821" indent="-239821">
              <a:buFont typeface="Arial"/>
              <a:buChar char="•"/>
              <a:defRPr/>
            </a:pPr>
            <a:r>
              <a:rPr lang="fr-FR"/>
              <a:t>Fid-*</a:t>
            </a:r>
            <a:endParaRPr lang="fr-FR"/>
          </a:p>
          <a:p>
            <a:pPr marL="239821" indent="-239821">
              <a:buFont typeface="Arial"/>
              <a:buChar char="•"/>
              <a:defRPr/>
            </a:pPr>
            <a:r>
              <a:rPr lang="fr-FR"/>
              <a:t>Space-id, option</a:t>
            </a:r>
            <a:endParaRPr lang="fr-FR"/>
          </a:p>
          <a:p>
            <a:pPr>
              <a:defRPr/>
            </a:pPr>
            <a:r>
              <a:rPr lang="fr-FR"/>
              <a:t>Old CoAP FID are deprecated</a:t>
            </a:r>
            <a:endParaRPr/>
          </a:p>
        </p:txBody>
      </p:sp>
      <p:sp>
        <p:nvSpPr>
          <p:cNvPr id="2119086371" name="Rectangle 11"/>
          <p:cNvSpPr txBox="1"/>
          <p:nvPr/>
        </p:nvSpPr>
        <p:spPr bwMode="auto">
          <a:xfrm rot="0" flipH="0" flipV="0">
            <a:off x="412906" y="3822211"/>
            <a:ext cx="2103209" cy="7318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New Function Length :</a:t>
            </a:r>
            <a:endParaRPr lang="fr-FR"/>
          </a:p>
          <a:p>
            <a:pPr marL="239821" indent="-239821">
              <a:buFont typeface="Arial"/>
              <a:buChar char="•"/>
              <a:defRPr/>
            </a:pPr>
            <a:r>
              <a:rPr lang="fr-FR"/>
              <a:t>fl-lenght-bytes (entry) </a:t>
            </a:r>
            <a:endParaRPr lang="fr-FR"/>
          </a:p>
          <a:p>
            <a:pPr marL="239821" indent="-239821">
              <a:buFont typeface="Arial"/>
              <a:buChar char="•"/>
              <a:defRPr/>
            </a:pPr>
            <a:r>
              <a:rPr lang="fr-FR"/>
              <a:t>fl-length-bits</a:t>
            </a:r>
            <a:r>
              <a:rPr lang="fr-FR"/>
              <a:t> (entry)</a:t>
            </a:r>
            <a:endParaRPr lang="fr-FR"/>
          </a:p>
        </p:txBody>
      </p:sp>
      <p:sp>
        <p:nvSpPr>
          <p:cNvPr id="1034892381" name="Rectangle 12"/>
          <p:cNvSpPr/>
          <p:nvPr/>
        </p:nvSpPr>
        <p:spPr bwMode="auto">
          <a:xfrm rot="0" flipH="0" flipV="0">
            <a:off x="5666534" y="1544759"/>
            <a:ext cx="2656253" cy="213701"/>
          </a:xfrm>
          <a:prstGeom prst="rect">
            <a:avLst/>
          </a:prstGeom>
          <a:solidFill>
            <a:schemeClr val="accent3">
              <a:lumMod val="20000"/>
              <a:lumOff val="80000"/>
              <a:alpha val="42000"/>
            </a:schemeClr>
          </a:solidFill>
          <a:ln w="254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25645630" name="Rectangle 13"/>
          <p:cNvSpPr txBox="1"/>
          <p:nvPr/>
        </p:nvSpPr>
        <p:spPr bwMode="auto">
          <a:xfrm rot="0" flipH="0" flipV="0">
            <a:off x="2626105" y="3822211"/>
            <a:ext cx="4126492" cy="518519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Add Data Model for syntactic CoAP compression :</a:t>
            </a:r>
            <a:endParaRPr lang="fr-FR"/>
          </a:p>
          <a:p>
            <a:pPr marL="239821" indent="-239821">
              <a:buFont typeface="Arial"/>
              <a:buChar char="•"/>
              <a:defRPr/>
            </a:pPr>
            <a:r>
              <a:rPr lang="fr-FR"/>
              <a:t>Three fields (∆option, length, data)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4270204" name="Google Shape;17;p7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970782" name="Google Shape;18;p7"/>
          <p:cNvSpPr txBox="1"/>
          <p:nvPr>
            <p:ph type="sldNum" idx="12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50B2FF6A-1878-B734-76D4-76DD2E3541E2}" type="slidenum">
              <a:rPr lang="en-US"/>
              <a:t>7</a:t>
            </a:fld>
            <a:endParaRPr/>
          </a:p>
        </p:txBody>
      </p:sp>
      <p:pic>
        <p:nvPicPr>
          <p:cNvPr id="275577125" name="Google Shape;169;p9" descr="Capture d’écran 2026-09-28 à 10.35.07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 flipH="0" flipV="0">
            <a:off x="4647218" y="194671"/>
            <a:ext cx="4088209" cy="4331441"/>
          </a:xfrm>
          <a:prstGeom prst="rect">
            <a:avLst/>
          </a:prstGeom>
          <a:noFill/>
          <a:ln>
            <a:noFill/>
          </a:ln>
        </p:spPr>
      </p:pic>
      <p:sp>
        <p:nvSpPr>
          <p:cNvPr id="1680397040" name="Google Shape;170;p9"/>
          <p:cNvSpPr/>
          <p:nvPr/>
        </p:nvSpPr>
        <p:spPr bwMode="auto">
          <a:xfrm flipH="0" flipV="0">
            <a:off x="4825784" y="723065"/>
            <a:ext cx="206613" cy="3654231"/>
          </a:xfrm>
          <a:prstGeom prst="rect">
            <a:avLst/>
          </a:prstGeom>
          <a:solidFill>
            <a:schemeClr val="accent2">
              <a:lumMod val="20000"/>
              <a:lumOff val="80000"/>
              <a:alpha val="56078"/>
            </a:schemeClr>
          </a:solidFill>
          <a:ln>
            <a:noFill/>
          </a:ln>
        </p:spPr>
        <p:txBody>
          <a:bodyPr spcFirstLastPara="1" wrap="square" lIns="50799" tIns="50799" rIns="50799" bIns="50799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"/>
              <a:buNone/>
              <a:defRPr/>
            </a:pPr>
            <a:endParaRPr sz="3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54521828" name="Google Shape;171;p9"/>
          <p:cNvSpPr/>
          <p:nvPr/>
        </p:nvSpPr>
        <p:spPr bwMode="auto">
          <a:xfrm flipH="0" flipV="0">
            <a:off x="5103733" y="2360392"/>
            <a:ext cx="871119" cy="1673724"/>
          </a:xfrm>
          <a:prstGeom prst="rect">
            <a:avLst/>
          </a:prstGeom>
          <a:solidFill>
            <a:schemeClr val="accent6">
              <a:lumMod val="60000"/>
              <a:lumOff val="40000"/>
              <a:alpha val="47451"/>
            </a:schemeClr>
          </a:solidFill>
          <a:ln>
            <a:noFill/>
          </a:ln>
        </p:spPr>
        <p:txBody>
          <a:bodyPr spcFirstLastPara="1" wrap="square" lIns="50799" tIns="50799" rIns="50799" bIns="50799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"/>
              <a:buNone/>
              <a:defRPr/>
            </a:pPr>
            <a:endParaRPr sz="3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408180399" name="Google Shape;172;p9"/>
          <p:cNvSpPr/>
          <p:nvPr/>
        </p:nvSpPr>
        <p:spPr bwMode="auto">
          <a:xfrm>
            <a:off x="16526517" y="9183541"/>
            <a:ext cx="1655496" cy="683956"/>
          </a:xfrm>
          <a:prstGeom prst="rect">
            <a:avLst/>
          </a:prstGeom>
          <a:solidFill>
            <a:srgbClr val="60D937">
              <a:alpha val="48235"/>
            </a:srgbClr>
          </a:solidFill>
          <a:ln>
            <a:noFill/>
          </a:ln>
        </p:spPr>
        <p:txBody>
          <a:bodyPr spcFirstLastPara="1" wrap="square" lIns="50799" tIns="50799" rIns="50799" bIns="50799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"/>
              <a:buNone/>
              <a:defRPr/>
            </a:pPr>
            <a:endParaRPr sz="3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22774711" name="Google Shape;174;p9"/>
          <p:cNvSpPr/>
          <p:nvPr/>
        </p:nvSpPr>
        <p:spPr bwMode="auto">
          <a:xfrm>
            <a:off x="18323399" y="7592215"/>
            <a:ext cx="1133339" cy="594947"/>
          </a:xfrm>
          <a:prstGeom prst="rect">
            <a:avLst/>
          </a:prstGeom>
          <a:solidFill>
            <a:schemeClr val="accent6">
              <a:alpha val="43529"/>
            </a:schemeClr>
          </a:solidFill>
          <a:ln>
            <a:noFill/>
          </a:ln>
        </p:spPr>
        <p:txBody>
          <a:bodyPr spcFirstLastPara="1" wrap="square" lIns="50799" tIns="50799" rIns="50799" bIns="50799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  <a:defRPr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98421982" name="Google Shape;171;p9"/>
          <p:cNvSpPr/>
          <p:nvPr/>
        </p:nvSpPr>
        <p:spPr bwMode="auto">
          <a:xfrm flipH="0" flipV="0">
            <a:off x="5103733" y="4034117"/>
            <a:ext cx="871119" cy="343180"/>
          </a:xfrm>
          <a:prstGeom prst="rect">
            <a:avLst/>
          </a:prstGeom>
          <a:solidFill>
            <a:schemeClr val="accent6">
              <a:lumMod val="20000"/>
              <a:lumOff val="80000"/>
              <a:alpha val="47451"/>
            </a:schemeClr>
          </a:solidFill>
          <a:ln>
            <a:noFill/>
          </a:ln>
        </p:spPr>
        <p:txBody>
          <a:bodyPr spcFirstLastPara="1" wrap="square" lIns="50799" tIns="50799" rIns="50799" bIns="50799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"/>
              <a:buNone/>
              <a:defRPr/>
            </a:pPr>
            <a:endParaRPr sz="3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71516884" name="Google Shape;171;p9"/>
          <p:cNvSpPr/>
          <p:nvPr/>
        </p:nvSpPr>
        <p:spPr bwMode="auto">
          <a:xfrm flipH="0" flipV="0">
            <a:off x="6051893" y="2072728"/>
            <a:ext cx="567297" cy="343179"/>
          </a:xfrm>
          <a:prstGeom prst="rect">
            <a:avLst/>
          </a:prstGeom>
          <a:solidFill>
            <a:schemeClr val="accent3">
              <a:lumMod val="20000"/>
              <a:lumOff val="80000"/>
              <a:alpha val="47451"/>
            </a:schemeClr>
          </a:solidFill>
          <a:ln>
            <a:noFill/>
          </a:ln>
        </p:spPr>
        <p:txBody>
          <a:bodyPr spcFirstLastPara="1" wrap="square" lIns="50799" tIns="50799" rIns="50799" bIns="50799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"/>
              <a:buNone/>
              <a:defRPr/>
            </a:pPr>
            <a:endParaRPr sz="3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392942281" name="Google Shape;171;p9"/>
          <p:cNvSpPr/>
          <p:nvPr/>
        </p:nvSpPr>
        <p:spPr bwMode="auto">
          <a:xfrm flipH="0" flipV="0">
            <a:off x="6051893" y="3107590"/>
            <a:ext cx="567297" cy="343179"/>
          </a:xfrm>
          <a:prstGeom prst="rect">
            <a:avLst/>
          </a:prstGeom>
          <a:solidFill>
            <a:schemeClr val="accent3">
              <a:lumMod val="20000"/>
              <a:lumOff val="80000"/>
              <a:alpha val="47451"/>
            </a:schemeClr>
          </a:solidFill>
          <a:ln>
            <a:noFill/>
          </a:ln>
        </p:spPr>
        <p:txBody>
          <a:bodyPr spcFirstLastPara="1" wrap="square" lIns="50799" tIns="50799" rIns="50799" bIns="50799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"/>
              <a:buNone/>
              <a:defRPr/>
            </a:pPr>
            <a:endParaRPr sz="32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32869143" name="Rectangle 11"/>
          <p:cNvSpPr txBox="1"/>
          <p:nvPr/>
        </p:nvSpPr>
        <p:spPr bwMode="auto">
          <a:xfrm rot="0" flipH="0" flipV="0">
            <a:off x="412905" y="2814758"/>
            <a:ext cx="2584914" cy="11585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FID is either :</a:t>
            </a:r>
            <a:endParaRPr lang="fr-FR"/>
          </a:p>
          <a:p>
            <a:pPr marL="239820" indent="-239820">
              <a:buFont typeface="Arial"/>
              <a:buChar char="•"/>
              <a:defRPr/>
            </a:pPr>
            <a:r>
              <a:rPr lang="fr-FR"/>
              <a:t>Fid-*</a:t>
            </a:r>
            <a:endParaRPr lang="fr-FR"/>
          </a:p>
          <a:p>
            <a:pPr marL="239820" indent="-239820">
              <a:buFont typeface="Arial"/>
              <a:buChar char="•"/>
              <a:defRPr/>
            </a:pPr>
            <a:r>
              <a:rPr lang="fr-FR"/>
              <a:t>Space-id, option</a:t>
            </a:r>
            <a:endParaRPr lang="fr-FR"/>
          </a:p>
          <a:p>
            <a:pPr>
              <a:defRPr/>
            </a:pPr>
            <a:r>
              <a:rPr lang="fr-FR"/>
              <a:t>Old CoAP FID are deprecated</a:t>
            </a:r>
            <a:endParaRPr lang="fr-FR"/>
          </a:p>
          <a:p>
            <a:pPr>
              <a:defRPr/>
            </a:pPr>
            <a:r>
              <a:rPr lang="fr-FR"/>
              <a:t>Sub-fields for OSCORE option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599773" name="Google Shape;82;p1"/>
          <p:cNvSpPr txBox="1"/>
          <p:nvPr>
            <p:ph type="title"/>
          </p:nvPr>
        </p:nvSpPr>
        <p:spPr bwMode="auto">
          <a:xfrm flipH="0" flipV="0">
            <a:off x="1410498" y="1119273"/>
            <a:ext cx="7028298" cy="933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398" tIns="91398" rIns="91398" bIns="91398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Open Sans"/>
              <a:buNone/>
              <a:defRPr/>
            </a:pPr>
            <a:r>
              <a:rPr lang="en-US" sz="3600" b="0" i="0" u="none" strike="noStrike" cap="none" spc="0">
                <a:solidFill>
                  <a:srgbClr val="FFFFFF"/>
                </a:solidFill>
                <a:latin typeface="Inter"/>
                <a:ea typeface="Inter"/>
                <a:cs typeface="Inter"/>
              </a:rPr>
              <a:t>draft-ietf-schc-icmpv6-compression-03</a:t>
            </a:r>
            <a:endParaRPr sz="3600"/>
          </a:p>
        </p:txBody>
      </p:sp>
      <p:sp>
        <p:nvSpPr>
          <p:cNvPr id="1452763923" name="Google Shape;83;p1"/>
          <p:cNvSpPr txBox="1"/>
          <p:nvPr/>
        </p:nvSpPr>
        <p:spPr bwMode="auto">
          <a:xfrm>
            <a:off x="486916" y="254439"/>
            <a:ext cx="4986900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399" tIns="91399" rIns="91399" bIns="91399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  <a:defRPr/>
            </a:pPr>
            <a:r>
              <a:rPr lang="fr-FR" sz="21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Nov </a:t>
            </a:r>
            <a:r>
              <a:rPr lang="fr-FR" sz="21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17</a:t>
            </a:r>
            <a:r>
              <a:rPr lang="en-US" sz="2100" b="0" i="0" u="none" strike="noStrike" cap="none" baseline="30000">
                <a:solidFill>
                  <a:srgbClr val="FFFFFF"/>
                </a:solidFill>
                <a:latin typeface="Inter"/>
                <a:ea typeface="Inter"/>
                <a:cs typeface="Inter"/>
              </a:rPr>
              <a:t>th</a:t>
            </a:r>
            <a:r>
              <a:rPr lang="en-US" sz="21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, 2026</a:t>
            </a:r>
            <a:endParaRPr sz="11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881058420" name="Google Shape;84;p1"/>
          <p:cNvSpPr txBox="1"/>
          <p:nvPr/>
        </p:nvSpPr>
        <p:spPr bwMode="auto">
          <a:xfrm>
            <a:off x="191741" y="4416808"/>
            <a:ext cx="3783600" cy="441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IETF 12</a:t>
            </a:r>
            <a:r>
              <a:rPr lang="fr-F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7</a:t>
            </a: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, </a:t>
            </a:r>
            <a:r>
              <a:rPr lang="fr-F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San Francisco</a:t>
            </a: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754746203" name="Google Shape;85;p1"/>
          <p:cNvSpPr txBox="1"/>
          <p:nvPr/>
        </p:nvSpPr>
        <p:spPr bwMode="auto">
          <a:xfrm flipH="0" flipV="0">
            <a:off x="707632" y="2318105"/>
            <a:ext cx="8085297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t" anchorCtr="0">
            <a:noAutofit/>
          </a:bodyPr>
          <a:lstStyle/>
          <a:p>
            <a:pPr>
              <a:defRPr/>
            </a:pPr>
            <a:r>
              <a:rPr lang="en-US" sz="2400" b="0" i="0" u="none" strike="noStrike" cap="none">
                <a:solidFill>
                  <a:srgbClr val="FFF2CC"/>
                </a:solidFill>
                <a:latin typeface="Inter"/>
                <a:ea typeface="Inter"/>
                <a:cs typeface="Inter"/>
              </a:rPr>
              <a:t>Authors: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 D. Barthel</a:t>
            </a:r>
            <a:r>
              <a:rPr lang="fr-FR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,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L. Toutain</a:t>
            </a:r>
            <a:r>
              <a:rPr lang="fr-FR"/>
              <a:t>,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M. Dumay</a:t>
            </a:r>
            <a:endParaRPr lang="en-US" sz="2400" b="0" i="0" u="none" strike="noStrike" cap="none" spc="0">
              <a:solidFill>
                <a:srgbClr val="FFF2CC"/>
              </a:solidFill>
              <a:latin typeface="Inter"/>
              <a:cs typeface="Inter"/>
            </a:endParaRPr>
          </a:p>
        </p:txBody>
      </p:sp>
      <p:pic>
        <p:nvPicPr>
          <p:cNvPr id="1974575014" name="Google Shape;86;p1"/>
          <p:cNvPicPr/>
          <p:nvPr/>
        </p:nvPicPr>
        <p:blipFill rotWithShape="1">
          <a:blip r:embed="rId3">
            <a:alphaModFix/>
          </a:blip>
          <a:srcRect l="9711" t="41600" r="22260" b="24843"/>
          <a:stretch/>
        </p:blipFill>
        <p:spPr bwMode="auto">
          <a:xfrm>
            <a:off x="3247924" y="4253648"/>
            <a:ext cx="2861895" cy="767620"/>
          </a:xfrm>
          <a:prstGeom prst="rect">
            <a:avLst/>
          </a:prstGeom>
          <a:noFill/>
          <a:ln>
            <a:noFill/>
          </a:ln>
        </p:spPr>
      </p:pic>
      <p:sp>
        <p:nvSpPr>
          <p:cNvPr id="606190969" name="Google Shape;87;p1"/>
          <p:cNvSpPr txBox="1"/>
          <p:nvPr/>
        </p:nvSpPr>
        <p:spPr bwMode="auto">
          <a:xfrm>
            <a:off x="707634" y="3178279"/>
            <a:ext cx="5724900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/>
            </a:pPr>
            <a:r>
              <a:rPr lang="en-US" sz="2400" b="0" i="0" u="none" strike="noStrike" cap="none">
                <a:solidFill>
                  <a:srgbClr val="FFF2CC"/>
                </a:solidFill>
                <a:latin typeface="Inter"/>
                <a:ea typeface="Inter"/>
                <a:cs typeface="Inter"/>
              </a:rPr>
              <a:t>Presenter: L. Toutain</a:t>
            </a:r>
            <a:endParaRPr sz="2400" b="0" i="0" u="none" strike="noStrike" cap="none">
              <a:solidFill>
                <a:srgbClr val="FFF2CC"/>
              </a:solidFill>
              <a:latin typeface="Inter"/>
              <a:ea typeface="Inter"/>
              <a:cs typeface="Inter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6073456" name="Google Shape;17;p7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fr-FR"/>
              <a:t>ICMPv6</a:t>
            </a:r>
            <a:endParaRPr/>
          </a:p>
        </p:txBody>
      </p:sp>
      <p:sp>
        <p:nvSpPr>
          <p:cNvPr id="2024576606" name="Google Shape;18;p7"/>
          <p:cNvSpPr txBox="1"/>
          <p:nvPr>
            <p:ph type="sldNum" idx="12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DBB77244-5EC1-7B83-9BBA-D3F58816C736}" type="slidenum">
              <a:rPr lang="en-US"/>
              <a:t>7</a:t>
            </a:fld>
            <a:endParaRPr/>
          </a:p>
        </p:txBody>
      </p:sp>
      <p:sp>
        <p:nvSpPr>
          <p:cNvPr id="513566270" name="Rectangle 3"/>
          <p:cNvSpPr txBox="1"/>
          <p:nvPr/>
        </p:nvSpPr>
        <p:spPr bwMode="auto">
          <a:xfrm rot="0" flipH="0" flipV="0">
            <a:off x="154797" y="350183"/>
            <a:ext cx="7091862" cy="35055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 marL="239821" marR="0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new Field IDs for the ICMPv6 header</a:t>
            </a:r>
            <a:r>
              <a:rPr lang="fr-FR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 :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639871" marR="0" lvl="1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Dedicated : type, code, checksum, MTU, pointer, identifier, sequence, 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639871" marR="0" lvl="1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Generic : unused, payload</a:t>
            </a:r>
            <a:endParaRPr sz="1600"/>
          </a:p>
          <a:p>
            <a:pPr marL="239821" marR="0" lvl="0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Device receives an error</a:t>
            </a:r>
            <a:r>
              <a:rPr lang="fr-FR" sz="1600"/>
              <a:t> :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639871" marR="0" lvl="1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compress the embedded invoking packet :</a:t>
            </a:r>
            <a:endParaRPr sz="1600" b="1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1039921" marR="0" lvl="2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Inside the Rule, 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1039921" marR="0" lvl="2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using new MOs and CDAs :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1439971" marR="0" lvl="3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rule-match, rev-rule-match, 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1439971" marR="0" lvl="3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compress-sent, rev-compress-sent</a:t>
            </a:r>
            <a:endParaRPr sz="1600"/>
          </a:p>
          <a:p>
            <a:pPr marL="239821" marR="0" lvl="0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Device should send an error:</a:t>
            </a:r>
            <a:endParaRPr sz="1600"/>
          </a:p>
          <a:p>
            <a:pPr marL="639871" marR="0" lvl="1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SCHC Core generates the ICMPv6 error (e.g., Port Unreachable)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239821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Action </a:t>
            </a:r>
            <a:r>
              <a:rPr lang="fr-FR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(generic): go to a procedure instead of being compressed :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639871" lvl="1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action-forward by default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639871" lvl="1" indent="-23982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action-proxy-ping for echo requests</a:t>
            </a:r>
            <a:endParaRPr sz="1600" b="0" i="0" u="none" strike="noStrike" cap="none" spc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7324521" name="Google Shape;17;p7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fr-FR"/>
              <a:t>Reverse compression</a:t>
            </a:r>
            <a:endParaRPr/>
          </a:p>
        </p:txBody>
      </p:sp>
      <p:sp>
        <p:nvSpPr>
          <p:cNvPr id="2281940" name="Google Shape;18;p7"/>
          <p:cNvSpPr txBox="1"/>
          <p:nvPr>
            <p:ph type="sldNum" idx="12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AD397E46-DE6C-490C-FC1D-99FE1675A489}" type="slidenum">
              <a:rPr lang="en-US"/>
              <a:t>10</a:t>
            </a:fld>
            <a:endParaRPr/>
          </a:p>
        </p:txBody>
      </p:sp>
      <p:pic>
        <p:nvPicPr>
          <p:cNvPr id="1894598122" name="Google Shape;181;p10" descr="Capture d’écran 2026-09-28 à 10.46.51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 flipH="0" flipV="0">
            <a:off x="57150" y="32375"/>
            <a:ext cx="3858876" cy="45974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91234937" name="Google Shape;182;p10"/>
          <p:cNvGrpSpPr/>
          <p:nvPr/>
        </p:nvGrpSpPr>
        <p:grpSpPr bwMode="auto">
          <a:xfrm flipH="0" flipV="0">
            <a:off x="5902713" y="115965"/>
            <a:ext cx="2368392" cy="4584276"/>
            <a:chOff x="0" y="0"/>
            <a:chExt cx="2368392" cy="4584276"/>
          </a:xfrm>
        </p:grpSpPr>
        <p:pic>
          <p:nvPicPr>
            <p:cNvPr id="400764778" name="Google Shape;183;p10" descr="Capture d’écran 2026-09-28 à 10.48.13.png"/>
            <p:cNvPicPr/>
            <p:nvPr/>
          </p:nvPicPr>
          <p:blipFill rotWithShape="1">
            <a:blip r:embed="rId4">
              <a:alphaModFix/>
            </a:blip>
            <a:srcRect l="0" t="0" r="0" b="0"/>
            <a:stretch/>
          </p:blipFill>
          <p:spPr bwMode="auto">
            <a:xfrm>
              <a:off x="16182" y="0"/>
              <a:ext cx="2296498" cy="71746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6077129" name="Google Shape;184;p10" descr="Capture d’écran 2026-09-28 à 10.49.22.png"/>
            <p:cNvPicPr/>
            <p:nvPr/>
          </p:nvPicPr>
          <p:blipFill rotWithShape="1">
            <a:blip r:embed="rId5">
              <a:alphaModFix/>
            </a:blip>
            <a:srcRect l="0" t="0" r="0" b="0"/>
            <a:stretch/>
          </p:blipFill>
          <p:spPr bwMode="auto">
            <a:xfrm>
              <a:off x="15931" y="665510"/>
              <a:ext cx="2352461" cy="350151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33145023" name="Google Shape;185;p10" descr="Capture d’écran 2026-09-28 à 10.50.16.png"/>
            <p:cNvPicPr/>
            <p:nvPr/>
          </p:nvPicPr>
          <p:blipFill rotWithShape="1">
            <a:blip r:embed="rId6">
              <a:alphaModFix/>
            </a:blip>
            <a:srcRect l="0" t="0" r="0" b="0"/>
            <a:stretch/>
          </p:blipFill>
          <p:spPr bwMode="auto">
            <a:xfrm>
              <a:off x="0" y="4173095"/>
              <a:ext cx="2296498" cy="41118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87122049" name="Rectangle 8"/>
          <p:cNvSpPr txBox="1"/>
          <p:nvPr/>
        </p:nvSpPr>
        <p:spPr bwMode="auto">
          <a:xfrm rot="0" flipH="0" flipV="0">
            <a:off x="4572000" y="1885545"/>
            <a:ext cx="590197" cy="82332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4800"/>
              <a:t>&amp;</a:t>
            </a:r>
            <a:endParaRPr sz="4800"/>
          </a:p>
        </p:txBody>
      </p:sp>
      <p:pic>
        <p:nvPicPr>
          <p:cNvPr id="117691420" name="Google Shape;188;p10" descr="image-removebg-preview (6).png"/>
          <p:cNvPicPr/>
          <p:nvPr/>
        </p:nvPicPr>
        <p:blipFill rotWithShape="1">
          <a:blip r:embed="rId7">
            <a:alphaModFix/>
          </a:blip>
          <a:srcRect l="0" t="0" r="0" b="0"/>
          <a:stretch/>
        </p:blipFill>
        <p:spPr bwMode="auto">
          <a:xfrm rot="5400000" flipH="0" flipV="0">
            <a:off x="7950685" y="2220401"/>
            <a:ext cx="631964" cy="344963"/>
          </a:xfrm>
          <a:prstGeom prst="rect">
            <a:avLst/>
          </a:prstGeom>
          <a:noFill/>
          <a:ln>
            <a:noFill/>
          </a:ln>
        </p:spPr>
      </p:pic>
      <p:sp>
        <p:nvSpPr>
          <p:cNvPr id="799675092" name="Rectangle 10"/>
          <p:cNvSpPr txBox="1"/>
          <p:nvPr/>
        </p:nvSpPr>
        <p:spPr bwMode="auto">
          <a:xfrm rot="0" flipH="0" flipV="0">
            <a:off x="8271106" y="1729908"/>
            <a:ext cx="855637" cy="5185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Reverse </a:t>
            </a:r>
            <a:endParaRPr lang="fr-FR"/>
          </a:p>
          <a:p>
            <a:pPr>
              <a:defRPr/>
            </a:pPr>
            <a:r>
              <a:rPr lang="fr-FR"/>
              <a:t>direction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217677" name="Google Shape;17;p7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fr-FR"/>
              <a:t>Action</a:t>
            </a:r>
            <a:endParaRPr/>
          </a:p>
        </p:txBody>
      </p:sp>
      <p:sp>
        <p:nvSpPr>
          <p:cNvPr id="1370082327" name="Google Shape;18;p7"/>
          <p:cNvSpPr txBox="1"/>
          <p:nvPr>
            <p:ph type="sldNum" idx="12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376E7010-924D-E959-CB66-EC764FD7A088}" type="slidenum">
              <a:rPr lang="en-US"/>
              <a:t>11</a:t>
            </a:fld>
            <a:endParaRPr/>
          </a:p>
        </p:txBody>
      </p:sp>
      <p:pic>
        <p:nvPicPr>
          <p:cNvPr id="1993936760" name="Google Shape;215;p12" descr="Capture d’écran 2026-09-28 à 10.30.37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 flipH="0" flipV="0">
            <a:off x="57150" y="197939"/>
            <a:ext cx="3506718" cy="3915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959334" name="Google Shape;217;p12" descr="Capture d’écran 2026-09-28 à 11.01.58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 flipH="0" flipV="0">
            <a:off x="4479174" y="1950437"/>
            <a:ext cx="4325163" cy="21625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129984" name="Google Shape;82;p1"/>
          <p:cNvSpPr txBox="1"/>
          <p:nvPr>
            <p:ph type="title"/>
          </p:nvPr>
        </p:nvSpPr>
        <p:spPr bwMode="auto">
          <a:xfrm flipH="0" flipV="0">
            <a:off x="1410498" y="1119272"/>
            <a:ext cx="7028298" cy="93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397" tIns="91397" rIns="91397" bIns="91397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Open Sans"/>
              <a:buNone/>
              <a:defRPr/>
            </a:pPr>
            <a:r>
              <a:rPr lang="en-US" sz="3600" b="0" i="0" u="none" strike="noStrike" cap="none" spc="0">
                <a:solidFill>
                  <a:srgbClr val="FFFFFF"/>
                </a:solidFill>
                <a:latin typeface="Inter"/>
                <a:ea typeface="Inter"/>
                <a:cs typeface="Inter"/>
              </a:rPr>
              <a:t>draft-toutain-schc-coreconf-management-01</a:t>
            </a:r>
            <a:endParaRPr sz="3600"/>
          </a:p>
        </p:txBody>
      </p:sp>
      <p:sp>
        <p:nvSpPr>
          <p:cNvPr id="1577043204" name="Google Shape;83;p1"/>
          <p:cNvSpPr txBox="1"/>
          <p:nvPr/>
        </p:nvSpPr>
        <p:spPr bwMode="auto">
          <a:xfrm>
            <a:off x="486915" y="254439"/>
            <a:ext cx="4986900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398" tIns="91398" rIns="91398" bIns="91398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  <a:defRPr/>
            </a:pPr>
            <a:r>
              <a:rPr lang="fr-FR" sz="21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Nov </a:t>
            </a:r>
            <a:r>
              <a:rPr lang="fr-FR" sz="21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17</a:t>
            </a:r>
            <a:r>
              <a:rPr lang="en-US" sz="2100" b="0" i="0" u="none" strike="noStrike" cap="none" baseline="30000">
                <a:solidFill>
                  <a:srgbClr val="FFFFFF"/>
                </a:solidFill>
                <a:latin typeface="Inter"/>
                <a:ea typeface="Inter"/>
                <a:cs typeface="Inter"/>
              </a:rPr>
              <a:t>th</a:t>
            </a:r>
            <a:r>
              <a:rPr lang="en-US" sz="21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</a:rPr>
              <a:t>, 2026</a:t>
            </a:r>
            <a:endParaRPr sz="11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507933306" name="Google Shape;84;p1"/>
          <p:cNvSpPr txBox="1"/>
          <p:nvPr/>
        </p:nvSpPr>
        <p:spPr bwMode="auto">
          <a:xfrm>
            <a:off x="191740" y="4416807"/>
            <a:ext cx="3783600" cy="44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91422" rIns="91422" bIns="91422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IETF 12</a:t>
            </a:r>
            <a:r>
              <a:rPr lang="fr-F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7</a:t>
            </a: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, </a:t>
            </a:r>
            <a:r>
              <a:rPr lang="fr-F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</a:rPr>
              <a:t>San Francisco</a:t>
            </a: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859602534" name="Google Shape;85;p1"/>
          <p:cNvSpPr txBox="1"/>
          <p:nvPr/>
        </p:nvSpPr>
        <p:spPr bwMode="auto">
          <a:xfrm flipH="0" flipV="0">
            <a:off x="707631" y="2318104"/>
            <a:ext cx="8085296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91422" rIns="91422" bIns="91422" anchor="t" anchorCtr="0">
            <a:noAutofit/>
          </a:bodyPr>
          <a:lstStyle/>
          <a:p>
            <a:pPr>
              <a:defRPr/>
            </a:pPr>
            <a:r>
              <a:rPr lang="en-US" sz="2400" b="0" i="0" u="none" strike="noStrike" cap="none">
                <a:solidFill>
                  <a:srgbClr val="FFF2CC"/>
                </a:solidFill>
                <a:latin typeface="Inter"/>
                <a:ea typeface="Inter"/>
                <a:cs typeface="Inter"/>
              </a:rPr>
              <a:t>Authors: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 </a:t>
            </a:r>
            <a:r>
              <a:rPr lang="fr-FR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A. Minaburo</a:t>
            </a:r>
            <a:r>
              <a:rPr lang="fr-FR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, </a:t>
            </a:r>
            <a:r>
              <a:rPr lang="en-US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L. Toutain</a:t>
            </a:r>
            <a:r>
              <a:rPr lang="fr-FR" sz="2400" b="0" i="0" u="none" strike="noStrike" cap="none" spc="0">
                <a:solidFill>
                  <a:srgbClr val="FFF2CC"/>
                </a:solidFill>
                <a:latin typeface="Inter"/>
                <a:ea typeface="Inter"/>
                <a:cs typeface="Inter"/>
              </a:rPr>
              <a:t>, J. A. Fernandez, M. Dumay, S. Sirohi</a:t>
            </a:r>
            <a:endParaRPr lang="en-US" sz="2400" b="0" i="0" u="none" strike="noStrike" cap="none" spc="0">
              <a:solidFill>
                <a:srgbClr val="FFF2CC"/>
              </a:solidFill>
              <a:latin typeface="Inter"/>
              <a:cs typeface="Inter"/>
            </a:endParaRPr>
          </a:p>
        </p:txBody>
      </p:sp>
      <p:pic>
        <p:nvPicPr>
          <p:cNvPr id="1664777050" name="Google Shape;86;p1"/>
          <p:cNvPicPr/>
          <p:nvPr/>
        </p:nvPicPr>
        <p:blipFill rotWithShape="1">
          <a:blip r:embed="rId3">
            <a:alphaModFix/>
          </a:blip>
          <a:srcRect l="9711" t="41600" r="22260" b="24843"/>
          <a:stretch/>
        </p:blipFill>
        <p:spPr bwMode="auto">
          <a:xfrm>
            <a:off x="3247923" y="4253647"/>
            <a:ext cx="2861894" cy="767619"/>
          </a:xfrm>
          <a:prstGeom prst="rect">
            <a:avLst/>
          </a:prstGeom>
          <a:noFill/>
          <a:ln>
            <a:noFill/>
          </a:ln>
        </p:spPr>
      </p:pic>
      <p:sp>
        <p:nvSpPr>
          <p:cNvPr id="1604292542" name="Google Shape;87;p1"/>
          <p:cNvSpPr txBox="1"/>
          <p:nvPr/>
        </p:nvSpPr>
        <p:spPr bwMode="auto">
          <a:xfrm>
            <a:off x="707634" y="3178278"/>
            <a:ext cx="5724900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91422" rIns="91422" bIns="91422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/>
            </a:pPr>
            <a:r>
              <a:rPr lang="en-US" sz="2400" b="0" i="0" u="none" strike="noStrike" cap="none">
                <a:solidFill>
                  <a:srgbClr val="FFF2CC"/>
                </a:solidFill>
                <a:latin typeface="Inter"/>
                <a:ea typeface="Inter"/>
                <a:cs typeface="Inter"/>
              </a:rPr>
              <a:t>Presenter: L. Toutain</a:t>
            </a:r>
            <a:endParaRPr sz="2400" b="0" i="0" u="none" strike="noStrike" cap="none">
              <a:solidFill>
                <a:srgbClr val="FFF2CC"/>
              </a:solidFill>
              <a:latin typeface="Inter"/>
              <a:ea typeface="Inter"/>
              <a:cs typeface="Inter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0162833" name="Google Shape;17;p7"/>
          <p:cNvSpPr txBox="1"/>
          <p:nvPr>
            <p:ph type="body" idx="1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r>
              <a:rPr lang="fr-FR"/>
              <a:t>Objectives</a:t>
            </a:r>
            <a:endParaRPr/>
          </a:p>
        </p:txBody>
      </p:sp>
      <p:sp>
        <p:nvSpPr>
          <p:cNvPr id="1725459011" name="Google Shape;18;p7"/>
          <p:cNvSpPr txBox="1"/>
          <p:nvPr>
            <p:ph type="sldNum" idx="12"/>
          </p:nvPr>
        </p:nvSpPr>
        <p:spPr bwMode="auto"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81967834-0FE6-7AEF-36C1-F6A36F77BC22}" type="slidenum">
              <a:rPr lang="en-US"/>
              <a:t>12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Material">
  <a:themeElements>
    <a:clrScheme name="Material">
      <a:dk1>
        <a:srgbClr val="002D3C"/>
      </a:dk1>
      <a:lt1>
        <a:srgbClr val="4285F4"/>
      </a:lt1>
      <a:dk2>
        <a:srgbClr val="A7A7A7"/>
      </a:dk2>
      <a:lt2>
        <a:srgbClr val="53535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Material">
  <a:themeElements>
    <a:clrScheme name="Material">
      <a:dk1>
        <a:srgbClr val="002D3C"/>
      </a:dk1>
      <a:lt1>
        <a:srgbClr val="4285F4"/>
      </a:lt1>
      <a:dk2>
        <a:srgbClr val="A7A7A7"/>
      </a:dk2>
      <a:lt2>
        <a:srgbClr val="53535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Material">
  <a:themeElements>
    <a:clrScheme name="Material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ONLYOFFICE/10.0.0.169</Application>
  <PresentationFormat>On-screen Show (4:3)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Pascal Thubert (pthubert)</dc:creator>
  <cp:lastModifiedBy/>
  <cp:revision>3</cp:revision>
  <dcterms:modified xsi:type="dcterms:W3CDTF">2026-10-30T14:23:51Z</dcterms:modified>
</cp:coreProperties>
</file>