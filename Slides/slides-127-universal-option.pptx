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theme/theme3.xml" ContentType="application/vnd.openxmlformats-officedocument.theme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howSpecialPlsOnTitleSld="0" strictFirstAndLastChar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4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theme" Target="theme/theme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handoutMasters/_rels/handout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44936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1717238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6200" y="0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r">
              <a:defRPr sz="1200"/>
            </a:lvl1pPr>
          </a:lstStyle>
          <a:p>
            <a:pPr>
              <a:defRPr/>
            </a:pPr>
            <a:fld id="{D3443A2A-87E7-2B0F-68A2-04ECC9D9FA70}" type="datetimeFigureOut">
              <a:rPr lang="en-US"/>
              <a:t/>
            </a:fld>
            <a:endParaRPr/>
          </a:p>
        </p:txBody>
      </p:sp>
      <p:sp>
        <p:nvSpPr>
          <p:cNvPr id="1255148706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685213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64018444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86200" y="8685213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29CD4B8F-1DF7-40BD-4EAD-14239CF2833F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001523" name="Google Shape;3;n"/>
          <p:cNvSpPr/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4929817" name="Google Shape;4;n"/>
          <p:cNvSpPr txBox="1"/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135707" name="Google Shape;79;p1:notes"/>
          <p:cNvSpPr/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798121" name="Google Shape;80;p1:notes"/>
          <p:cNvSpPr txBox="1"/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761104" name="Google Shape;3;n"/>
          <p:cNvSpPr/>
          <p:nvPr>
            <p:ph type="sldImg" idx="2"/>
          </p:nvPr>
        </p:nvSpPr>
        <p:spPr bwMode="auto"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295431" name="Google Shape;4;n"/>
          <p:cNvSpPr txBox="1"/>
          <p:nvPr>
            <p:ph type="body" idx="1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638690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86200" y="8685212"/>
            <a:ext cx="2971800" cy="45878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C1463F64-9561-2FD5-5416-82C13993CB34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647121" name="Google Shape;3;n"/>
          <p:cNvSpPr/>
          <p:nvPr>
            <p:ph type="sldImg" idx="2"/>
          </p:nvPr>
        </p:nvSpPr>
        <p:spPr bwMode="auto"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545491" name="Google Shape;4;n"/>
          <p:cNvSpPr txBox="1"/>
          <p:nvPr>
            <p:ph type="body" idx="1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219949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86200" y="8685212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0F94FFC8-6335-F355-B151-E871A3E3BA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355082" name="Google Shape;3;n"/>
          <p:cNvSpPr/>
          <p:nvPr>
            <p:ph type="sldImg" idx="2"/>
          </p:nvPr>
        </p:nvSpPr>
        <p:spPr bwMode="auto"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3327394" name="Google Shape;4;n"/>
          <p:cNvSpPr txBox="1"/>
          <p:nvPr>
            <p:ph type="body" idx="1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1283300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86200" y="8685212"/>
            <a:ext cx="2971800" cy="45878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7342B07B-2FDE-4C68-5222-9FB6D94F5DC1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919761" name="Google Shape;79;p1:notes"/>
          <p:cNvSpPr/>
          <p:nvPr>
            <p:ph type="sldImg" idx="2"/>
          </p:nvPr>
        </p:nvSpPr>
        <p:spPr bwMode="auto">
          <a:xfrm>
            <a:off x="3809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2773663" name="Google Shape;80;p1:notes"/>
          <p:cNvSpPr txBox="1"/>
          <p:nvPr>
            <p:ph type="body" idx="1"/>
          </p:nvPr>
        </p:nvSpPr>
        <p:spPr bwMode="auto">
          <a:xfrm>
            <a:off x="914400" y="4343400"/>
            <a:ext cx="50291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462913" name="Google Shape;3;n"/>
          <p:cNvSpPr/>
          <p:nvPr>
            <p:ph type="sldImg" idx="2"/>
          </p:nvPr>
        </p:nvSpPr>
        <p:spPr bwMode="auto"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7050918" name="Google Shape;4;n"/>
          <p:cNvSpPr txBox="1"/>
          <p:nvPr>
            <p:ph type="body" idx="1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040526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86200" y="8685212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89CC2183-A392-FB67-0E66-6EC1BB1347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813438" name="Google Shape;3;n"/>
          <p:cNvSpPr/>
          <p:nvPr>
            <p:ph type="sldImg" idx="2"/>
          </p:nvPr>
        </p:nvSpPr>
        <p:spPr bwMode="auto"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1836548" name="Google Shape;4;n"/>
          <p:cNvSpPr txBox="1"/>
          <p:nvPr>
            <p:ph type="body" idx="1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03282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86200" y="8685212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F4BD61CE-69BF-C3FC-AEE1-93A7948757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337199" name="Google Shape;79;p1:notes"/>
          <p:cNvSpPr/>
          <p:nvPr>
            <p:ph type="sldImg" idx="2"/>
          </p:nvPr>
        </p:nvSpPr>
        <p:spPr bwMode="auto">
          <a:xfrm>
            <a:off x="3809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669531" name="Google Shape;80;p1:notes"/>
          <p:cNvSpPr txBox="1"/>
          <p:nvPr>
            <p:ph type="body" idx="1"/>
          </p:nvPr>
        </p:nvSpPr>
        <p:spPr bwMode="auto">
          <a:xfrm>
            <a:off x="914400" y="4343400"/>
            <a:ext cx="50291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014459" name="Google Shape;3;n"/>
          <p:cNvSpPr/>
          <p:nvPr>
            <p:ph type="sldImg" idx="2"/>
          </p:nvPr>
        </p:nvSpPr>
        <p:spPr bwMode="auto"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2467194" name="Google Shape;4;n"/>
          <p:cNvSpPr txBox="1"/>
          <p:nvPr>
            <p:ph type="body" idx="1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330899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86200" y="8685212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C960D52C-4C11-5B14-7995-4AFFB546A3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" preserve="0" showMasterPhAnim="0" showMasterSp="1" type="title" userDrawn="1">
  <p:cSld name="TITLE">
    <p:bg>
      <p:bgPr shadeToTitle="0">
        <a:solidFill>
          <a:srgbClr val="002D3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686658" name="Google Shape;10;p4"/>
          <p:cNvSpPr txBox="1"/>
          <p:nvPr>
            <p:ph type="title"/>
          </p:nvPr>
        </p:nvSpPr>
        <p:spPr bwMode="auto">
          <a:xfrm>
            <a:off x="754464" y="2104950"/>
            <a:ext cx="7635072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Inter"/>
              <a:buNone/>
              <a:defRPr sz="4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12302227" name="Google Shape;11;p4"/>
          <p:cNvSpPr txBox="1"/>
          <p:nvPr>
            <p:ph type="sldNum" idx="12"/>
          </p:nvPr>
        </p:nvSpPr>
        <p:spPr bwMode="auto"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5380022" name="Google Shape;12;p4"/>
          <p:cNvSpPr/>
          <p:nvPr/>
        </p:nvSpPr>
        <p:spPr bwMode="auto">
          <a:xfrm>
            <a:off x="-125" y="4147975"/>
            <a:ext cx="9144001" cy="9957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31515528" name="Google Shape;13;p4" descr="Shape 14"/>
          <p:cNvPicPr/>
          <p:nvPr/>
        </p:nvPicPr>
        <p:blipFill rotWithShape="1">
          <a:blip r:embed="rId2">
            <a:alphaModFix/>
          </a:blip>
          <a:srcRect l="0" t="0" r="0" b="0"/>
          <a:stretch/>
        </p:blipFill>
        <p:spPr bwMode="auto">
          <a:xfrm>
            <a:off x="7440438" y="4312261"/>
            <a:ext cx="1256176" cy="66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_ONLY" preserve="0" showMasterPhAnim="0" showMasterSp="1" userDrawn="1">
  <p:cSld name="CAPTION_ONLY">
    <p:bg>
      <p:bgPr shadeToTitle="0">
        <a:solidFill>
          <a:srgbClr val="002D3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859098" name="Google Shape;15;p7"/>
          <p:cNvSpPr/>
          <p:nvPr/>
        </p:nvSpPr>
        <p:spPr bwMode="auto">
          <a:xfrm rot="10800000" flipH="1">
            <a:off x="0" y="0"/>
            <a:ext cx="9144000" cy="46959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8353031" name="Google Shape;16;p7"/>
          <p:cNvSpPr/>
          <p:nvPr/>
        </p:nvSpPr>
        <p:spPr bwMode="auto">
          <a:xfrm rot="10800000" flipH="1">
            <a:off x="0" y="4622724"/>
            <a:ext cx="9144000" cy="74101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0861587" name="Google Shape;17;p7"/>
          <p:cNvSpPr txBox="1"/>
          <p:nvPr>
            <p:ph type="body" idx="1"/>
          </p:nvPr>
        </p:nvSpPr>
        <p:spPr bwMode="auto">
          <a:xfrm>
            <a:off x="57150" y="4696824"/>
            <a:ext cx="8382000" cy="44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154565" name="Google Shape;18;p7"/>
          <p:cNvSpPr txBox="1"/>
          <p:nvPr>
            <p:ph type="sldNum" idx="12"/>
          </p:nvPr>
        </p:nvSpPr>
        <p:spPr bwMode="auto"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2154931" name="Google Shape;6;p3"/>
          <p:cNvSpPr txBox="1"/>
          <p:nvPr>
            <p:ph type="sldNum" idx="12"/>
          </p:nvPr>
        </p:nvSpPr>
        <p:spPr bwMode="auto"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b="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b="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b="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b="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b="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b="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b="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b="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b="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5708856" name="Google Shape;7;p3"/>
          <p:cNvSpPr txBox="1"/>
          <p:nvPr>
            <p:ph type="title"/>
          </p:nvPr>
        </p:nvSpPr>
        <p:spPr bwMode="auto">
          <a:xfrm>
            <a:off x="457200" y="0"/>
            <a:ext cx="8229600" cy="106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01851392" name="Google Shape;8;p3"/>
          <p:cNvSpPr txBox="1"/>
          <p:nvPr>
            <p:ph type="body" idx="1"/>
          </p:nvPr>
        </p:nvSpPr>
        <p:spPr bwMode="auto"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916637" name="Google Shape;82;p1"/>
          <p:cNvSpPr txBox="1"/>
          <p:nvPr>
            <p:ph type="title"/>
          </p:nvPr>
        </p:nvSpPr>
        <p:spPr bwMode="auto">
          <a:xfrm flipH="0" flipV="0">
            <a:off x="1410499" y="1119274"/>
            <a:ext cx="7028298" cy="93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99" tIns="91399" rIns="91399" bIns="91399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Open Sans"/>
              <a:buNone/>
              <a:defRPr/>
            </a:pPr>
            <a:r>
              <a:rPr lang="en-US" sz="3600" b="0" i="0" u="none" strike="noStrike" cap="none" spc="0">
                <a:solidFill>
                  <a:srgbClr val="FFFFFF"/>
                </a:solidFill>
                <a:latin typeface="Inter"/>
                <a:ea typeface="Inter"/>
                <a:cs typeface="Inter"/>
              </a:rPr>
              <a:t>draft-ietf-schc-universal-option-02</a:t>
            </a:r>
            <a:endParaRPr sz="3600"/>
          </a:p>
        </p:txBody>
      </p:sp>
      <p:sp>
        <p:nvSpPr>
          <p:cNvPr id="603981655" name="Google Shape;83;p1"/>
          <p:cNvSpPr txBox="1"/>
          <p:nvPr/>
        </p:nvSpPr>
        <p:spPr bwMode="auto">
          <a:xfrm>
            <a:off x="486917" y="254440"/>
            <a:ext cx="49869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/>
            </a:pPr>
            <a:r>
              <a:rPr lang="fr-FR" sz="21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Nov </a:t>
            </a:r>
            <a:r>
              <a:rPr lang="fr-FR" sz="21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17</a:t>
            </a:r>
            <a:r>
              <a:rPr lang="en-US" sz="2100" b="0" i="0" u="none" strike="noStrike" cap="none" baseline="30000">
                <a:solidFill>
                  <a:srgbClr val="FFFFFF"/>
                </a:solidFill>
                <a:latin typeface="Inter"/>
                <a:ea typeface="Inter"/>
                <a:cs typeface="Inter"/>
              </a:rPr>
              <a:t>th</a:t>
            </a:r>
            <a:r>
              <a:rPr lang="en-US" sz="21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, 2026</a:t>
            </a:r>
            <a:endParaRPr sz="11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9468758" name="Google Shape;84;p1"/>
          <p:cNvSpPr txBox="1"/>
          <p:nvPr/>
        </p:nvSpPr>
        <p:spPr bwMode="auto">
          <a:xfrm>
            <a:off x="191742" y="4416809"/>
            <a:ext cx="3783600" cy="4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</a:rPr>
              <a:t>IETF 12</a:t>
            </a:r>
            <a:r>
              <a:rPr lang="fr-F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</a:rPr>
              <a:t>7</a:t>
            </a: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</a:rPr>
              <a:t>, </a:t>
            </a:r>
            <a:r>
              <a:rPr lang="fr-F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</a:rPr>
              <a:t>San Francisco</a:t>
            </a: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17125607" name="Google Shape;85;p1"/>
          <p:cNvSpPr txBox="1"/>
          <p:nvPr/>
        </p:nvSpPr>
        <p:spPr bwMode="auto">
          <a:xfrm flipH="0" flipV="0">
            <a:off x="707633" y="2318105"/>
            <a:ext cx="8085298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91424" rIns="91424" bIns="91424" anchor="t" anchorCtr="0">
            <a:noAutofit/>
          </a:bodyPr>
          <a:lstStyle/>
          <a:p>
            <a:pPr>
              <a:defRPr/>
            </a:pPr>
            <a:r>
              <a:rPr lang="en-US" sz="2400" b="0" i="0" u="none" strike="noStrike" cap="none">
                <a:solidFill>
                  <a:srgbClr val="FFF2CC"/>
                </a:solidFill>
                <a:latin typeface="Inter"/>
                <a:ea typeface="Inter"/>
                <a:cs typeface="Inter"/>
              </a:rPr>
              <a:t>Authors: </a:t>
            </a:r>
            <a:r>
              <a:rPr lang="en-US" sz="2400" b="0" i="0" u="none" strike="noStrike" cap="none" spc="0">
                <a:solidFill>
                  <a:srgbClr val="FFF2CC"/>
                </a:solidFill>
                <a:latin typeface="Inter"/>
                <a:ea typeface="Inter"/>
                <a:cs typeface="Inter"/>
              </a:rPr>
              <a:t> Q. Lampin</a:t>
            </a:r>
            <a:r>
              <a:rPr lang="fr-FR" sz="2400" b="0" i="0" u="none" strike="noStrike" cap="none" spc="0">
                <a:solidFill>
                  <a:srgbClr val="FFF2CC"/>
                </a:solidFill>
                <a:latin typeface="Inter"/>
                <a:cs typeface="Inter"/>
              </a:rPr>
              <a:t>, </a:t>
            </a:r>
            <a:r>
              <a:rPr lang="en-US" sz="2400" b="0" i="0" u="none" strike="noStrike" cap="none" spc="0">
                <a:solidFill>
                  <a:srgbClr val="FFF2CC"/>
                </a:solidFill>
                <a:latin typeface="Inter"/>
                <a:ea typeface="Inter"/>
                <a:cs typeface="Inter"/>
              </a:rPr>
              <a:t>A. Minaburo</a:t>
            </a:r>
            <a:r>
              <a:rPr lang="fr-FR" sz="2400" b="0" i="0" u="none" strike="noStrike" cap="none" spc="0">
                <a:solidFill>
                  <a:srgbClr val="FFF2CC"/>
                </a:solidFill>
                <a:latin typeface="Inter"/>
                <a:ea typeface="Inter"/>
                <a:cs typeface="Inter"/>
              </a:rPr>
              <a:t>, </a:t>
            </a:r>
            <a:r>
              <a:rPr lang="en-US" sz="2400" b="0" i="0" u="none" strike="noStrike" cap="none" spc="0">
                <a:solidFill>
                  <a:srgbClr val="FFF2CC"/>
                </a:solidFill>
                <a:latin typeface="Inter"/>
                <a:ea typeface="Inter"/>
                <a:cs typeface="Inter"/>
              </a:rPr>
              <a:t>M. Tiloca</a:t>
            </a:r>
            <a:r>
              <a:rPr lang="fr-FR" sz="2400" b="0" i="0" u="none" strike="noStrike" cap="none" spc="0">
                <a:solidFill>
                  <a:srgbClr val="FFF2CC"/>
                </a:solidFill>
                <a:latin typeface="Inter"/>
                <a:ea typeface="Inter"/>
                <a:cs typeface="Inter"/>
              </a:rPr>
              <a:t>,</a:t>
            </a:r>
            <a:r>
              <a:rPr lang="en-US" sz="2400" b="0" i="0" u="none" strike="noStrike" cap="none" spc="0">
                <a:solidFill>
                  <a:srgbClr val="FFF2CC"/>
                </a:solidFill>
                <a:latin typeface="Inter"/>
                <a:ea typeface="Inter"/>
                <a:cs typeface="Inter"/>
              </a:rPr>
              <a:t> L. Toutain</a:t>
            </a:r>
            <a:r>
              <a:rPr lang="fr-FR" sz="2400" b="0" i="0" u="none" strike="noStrike" cap="none" spc="0">
                <a:solidFill>
                  <a:srgbClr val="FFF2CC"/>
                </a:solidFill>
                <a:latin typeface="Inter"/>
                <a:ea typeface="Inter"/>
                <a:cs typeface="Inter"/>
              </a:rPr>
              <a:t>, </a:t>
            </a:r>
            <a:r>
              <a:rPr lang="en-US" sz="2400" b="0" i="0" u="none" strike="noStrike" cap="none" spc="0">
                <a:solidFill>
                  <a:srgbClr val="FFF2CC"/>
                </a:solidFill>
                <a:latin typeface="Inter"/>
                <a:ea typeface="Inter"/>
                <a:cs typeface="Inter"/>
              </a:rPr>
              <a:t>                                                               S. Sirohi</a:t>
            </a:r>
            <a:endParaRPr lang="en-US" sz="2400" b="0" i="0" u="none" strike="noStrike" cap="none" spc="0">
              <a:solidFill>
                <a:srgbClr val="FFF2CC"/>
              </a:solidFill>
              <a:latin typeface="Inter"/>
              <a:cs typeface="Inter"/>
            </a:endParaRPr>
          </a:p>
        </p:txBody>
      </p:sp>
      <p:pic>
        <p:nvPicPr>
          <p:cNvPr id="1799879974" name="Google Shape;86;p1"/>
          <p:cNvPicPr/>
          <p:nvPr/>
        </p:nvPicPr>
        <p:blipFill rotWithShape="1">
          <a:blip r:embed="rId3">
            <a:alphaModFix/>
          </a:blip>
          <a:srcRect l="9711" t="41600" r="22260" b="24843"/>
          <a:stretch/>
        </p:blipFill>
        <p:spPr bwMode="auto">
          <a:xfrm>
            <a:off x="3247925" y="4253649"/>
            <a:ext cx="2861896" cy="767621"/>
          </a:xfrm>
          <a:prstGeom prst="rect">
            <a:avLst/>
          </a:prstGeom>
          <a:noFill/>
          <a:ln>
            <a:noFill/>
          </a:ln>
        </p:spPr>
      </p:pic>
      <p:sp>
        <p:nvSpPr>
          <p:cNvPr id="1822379727" name="Google Shape;87;p1"/>
          <p:cNvSpPr txBox="1"/>
          <p:nvPr/>
        </p:nvSpPr>
        <p:spPr bwMode="auto">
          <a:xfrm>
            <a:off x="707634" y="3178280"/>
            <a:ext cx="57249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/>
            </a:pPr>
            <a:r>
              <a:rPr lang="en-US" sz="2400" b="0" i="0" u="none" strike="noStrike" cap="none">
                <a:solidFill>
                  <a:srgbClr val="FFF2CC"/>
                </a:solidFill>
                <a:latin typeface="Inter"/>
                <a:ea typeface="Inter"/>
                <a:cs typeface="Inter"/>
              </a:rPr>
              <a:t>Presenter: L. Toutain</a:t>
            </a:r>
            <a:endParaRPr sz="2400" b="0" i="0" u="none" strike="noStrike" cap="none">
              <a:solidFill>
                <a:srgbClr val="FFF2CC"/>
              </a:solidFill>
              <a:latin typeface="Inter"/>
              <a:ea typeface="Inter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466848" name="Google Shape;17;p7"/>
          <p:cNvSpPr txBox="1"/>
          <p:nvPr>
            <p:ph type="body" idx="1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fr-FR"/>
              <a:t>Organisation</a:t>
            </a:r>
            <a:endParaRPr/>
          </a:p>
        </p:txBody>
      </p:sp>
      <p:sp>
        <p:nvSpPr>
          <p:cNvPr id="865539312" name="Google Shape;18;p7"/>
          <p:cNvSpPr txBox="1"/>
          <p:nvPr>
            <p:ph type="sldNum" idx="12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E7069DF2-A800-C5A6-5A3C-B837D3B76972}" type="slidenum">
              <a:rPr lang="en-US"/>
              <a:t>2</a:t>
            </a:fld>
            <a:endParaRPr/>
          </a:p>
        </p:txBody>
      </p:sp>
      <p:sp>
        <p:nvSpPr>
          <p:cNvPr id="1757110671" name="Carré corné 3"/>
          <p:cNvSpPr/>
          <p:nvPr/>
        </p:nvSpPr>
        <p:spPr bwMode="auto">
          <a:xfrm rot="0" flipH="0" flipV="0">
            <a:off x="531825" y="1807306"/>
            <a:ext cx="1056297" cy="1440960"/>
          </a:xfrm>
          <a:prstGeom prst="foldedCorner">
            <a:avLst>
              <a:gd name="adj" fmla="val 16667"/>
            </a:avLst>
          </a:prstGeom>
          <a:solidFill>
            <a:schemeClr val="accent3">
              <a:lumMod val="20000"/>
              <a:lumOff val="80000"/>
            </a:schemeClr>
          </a:solidFill>
          <a:ln w="25400" cap="flat" cmpd="sng" algn="ctr">
            <a:solidFill>
              <a:schemeClr val="accent3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fr-FR">
                <a:solidFill>
                  <a:schemeClr val="accent3">
                    <a:lumMod val="75000"/>
                  </a:schemeClr>
                </a:solidFill>
              </a:rPr>
              <a:t>toward-rfc9363bis</a:t>
            </a:r>
            <a:endParaRPr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80846550" name="Google Shape;82;p1"/>
          <p:cNvSpPr txBox="1"/>
          <p:nvPr/>
        </p:nvSpPr>
        <p:spPr bwMode="auto">
          <a:xfrm flipH="0" flipV="0">
            <a:off x="341989" y="81293"/>
            <a:ext cx="7028298" cy="767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99" tIns="91399" rIns="91399" bIns="91399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Open Sans"/>
              <a:buNone/>
              <a:defRPr/>
            </a:pPr>
            <a:r>
              <a:rPr lang="fr-FR" sz="36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Drafts organisation</a:t>
            </a:r>
            <a:endParaRPr sz="3600">
              <a:solidFill>
                <a:schemeClr val="tx1"/>
              </a:solidFill>
            </a:endParaRPr>
          </a:p>
        </p:txBody>
      </p:sp>
      <p:sp>
        <p:nvSpPr>
          <p:cNvPr id="638149980" name="Rectangle 5"/>
          <p:cNvSpPr txBox="1"/>
          <p:nvPr/>
        </p:nvSpPr>
        <p:spPr bwMode="auto">
          <a:xfrm rot="0" flipH="0" flipV="0">
            <a:off x="252465" y="3388700"/>
            <a:ext cx="1615018" cy="27467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interim-2026-schc-13</a:t>
            </a:r>
            <a:endParaRPr/>
          </a:p>
        </p:txBody>
      </p:sp>
      <p:cxnSp>
        <p:nvCxnSpPr>
          <p:cNvPr id="451047578" name="Ligne 12"/>
          <p:cNvCxnSpPr/>
          <p:nvPr/>
        </p:nvCxnSpPr>
        <p:spPr bwMode="auto">
          <a:xfrm flipH="0" flipV="0">
            <a:off x="2101008" y="842595"/>
            <a:ext cx="0" cy="3260478"/>
          </a:xfrm>
          <a:prstGeom prst="line">
            <a:avLst/>
          </a:prstGeom>
          <a:ln w="9525" cap="flat" cmpd="sng" algn="ctr">
            <a:solidFill>
              <a:srgbClr val="00548A"/>
            </a:solidFill>
            <a:prstDash val="sysDash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823008" name="Google Shape;17;p7"/>
          <p:cNvSpPr txBox="1"/>
          <p:nvPr>
            <p:ph type="body" idx="1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fr-FR"/>
              <a:t>Organisation</a:t>
            </a:r>
            <a:endParaRPr/>
          </a:p>
        </p:txBody>
      </p:sp>
      <p:sp>
        <p:nvSpPr>
          <p:cNvPr id="2047032551" name="Google Shape;18;p7"/>
          <p:cNvSpPr txBox="1"/>
          <p:nvPr>
            <p:ph type="sldNum" idx="12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95C9088C-BFA7-4435-276E-5378911801EB}" type="slidenum">
              <a:rPr lang="en-US"/>
              <a:t>&lt;#&gt;</a:t>
            </a:fld>
            <a:endParaRPr/>
          </a:p>
        </p:txBody>
      </p:sp>
      <p:sp>
        <p:nvSpPr>
          <p:cNvPr id="1657315408" name="Carré corné 3"/>
          <p:cNvSpPr/>
          <p:nvPr/>
        </p:nvSpPr>
        <p:spPr bwMode="auto">
          <a:xfrm rot="0" flipH="0" flipV="0">
            <a:off x="531826" y="1807307"/>
            <a:ext cx="1056297" cy="1440961"/>
          </a:xfrm>
          <a:prstGeom prst="foldedCorner">
            <a:avLst>
              <a:gd name="adj" fmla="val 16667"/>
            </a:avLst>
          </a:prstGeom>
          <a:solidFill>
            <a:schemeClr val="accent3">
              <a:lumMod val="20000"/>
              <a:lumOff val="80000"/>
            </a:schemeClr>
          </a:solidFill>
          <a:ln w="25400" cap="flat" cmpd="sng" algn="ctr">
            <a:solidFill>
              <a:schemeClr val="accent3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fr-FR">
                <a:solidFill>
                  <a:schemeClr val="accent3">
                    <a:lumMod val="75000"/>
                  </a:schemeClr>
                </a:solidFill>
              </a:rPr>
              <a:t>toward-rfc9363bis</a:t>
            </a:r>
            <a:endParaRPr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96154623" name="Google Shape;82;p1"/>
          <p:cNvSpPr txBox="1"/>
          <p:nvPr/>
        </p:nvSpPr>
        <p:spPr bwMode="auto">
          <a:xfrm flipH="0" flipV="0">
            <a:off x="341990" y="81294"/>
            <a:ext cx="7028298" cy="767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99" tIns="91399" rIns="91399" bIns="91399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Open Sans"/>
              <a:buNone/>
              <a:defRPr/>
            </a:pPr>
            <a:r>
              <a:rPr lang="fr-FR" sz="36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Drafts organisation</a:t>
            </a:r>
            <a:endParaRPr sz="3600">
              <a:solidFill>
                <a:schemeClr val="tx1"/>
              </a:solidFill>
            </a:endParaRPr>
          </a:p>
        </p:txBody>
      </p:sp>
      <p:sp>
        <p:nvSpPr>
          <p:cNvPr id="64521673" name="Rectangle 5"/>
          <p:cNvSpPr txBox="1"/>
          <p:nvPr/>
        </p:nvSpPr>
        <p:spPr bwMode="auto">
          <a:xfrm rot="0" flipH="0" flipV="0">
            <a:off x="252465" y="3388701"/>
            <a:ext cx="1615019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interim-2026-schc-13</a:t>
            </a:r>
            <a:endParaRPr/>
          </a:p>
        </p:txBody>
      </p:sp>
      <p:sp>
        <p:nvSpPr>
          <p:cNvPr id="286870988" name="Carré corné 6"/>
          <p:cNvSpPr/>
          <p:nvPr/>
        </p:nvSpPr>
        <p:spPr bwMode="auto">
          <a:xfrm rot="0" flipH="0" flipV="0">
            <a:off x="2601437" y="848701"/>
            <a:ext cx="1056297" cy="1440960"/>
          </a:xfrm>
          <a:prstGeom prst="foldedCorner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fr-FR">
                <a:solidFill>
                  <a:srgbClr val="00B050"/>
                </a:solidFill>
              </a:rPr>
              <a:t>Universal-option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1212529490" name="Carré corné 7"/>
          <p:cNvSpPr/>
          <p:nvPr/>
        </p:nvSpPr>
        <p:spPr bwMode="auto">
          <a:xfrm rot="0" flipH="0" flipV="0">
            <a:off x="2601437" y="2527788"/>
            <a:ext cx="1056297" cy="1440960"/>
          </a:xfrm>
          <a:prstGeom prst="foldedCorner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fr-FR">
                <a:solidFill>
                  <a:srgbClr val="00B050"/>
                </a:solidFill>
              </a:rPr>
              <a:t>ICMPv6</a:t>
            </a:r>
            <a:endParaRPr>
              <a:solidFill>
                <a:srgbClr val="00B050"/>
              </a:solidFill>
            </a:endParaRPr>
          </a:p>
        </p:txBody>
      </p:sp>
      <p:cxnSp>
        <p:nvCxnSpPr>
          <p:cNvPr id="1754178402" name="Ligne 12"/>
          <p:cNvCxnSpPr/>
          <p:nvPr/>
        </p:nvCxnSpPr>
        <p:spPr bwMode="auto">
          <a:xfrm flipH="0" flipV="0">
            <a:off x="2101009" y="842595"/>
            <a:ext cx="0" cy="3260480"/>
          </a:xfrm>
          <a:prstGeom prst="line">
            <a:avLst/>
          </a:prstGeom>
          <a:ln w="9525" cap="flat" cmpd="sng" algn="ctr">
            <a:solidFill>
              <a:srgbClr val="00548A"/>
            </a:solidFill>
            <a:prstDash val="sysDash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925635" name="Google Shape;17;p7"/>
          <p:cNvSpPr txBox="1"/>
          <p:nvPr>
            <p:ph type="body" idx="1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fr-FR"/>
              <a:t>Organisation</a:t>
            </a:r>
            <a:endParaRPr/>
          </a:p>
        </p:txBody>
      </p:sp>
      <p:sp>
        <p:nvSpPr>
          <p:cNvPr id="1522896787" name="Google Shape;18;p7"/>
          <p:cNvSpPr txBox="1"/>
          <p:nvPr>
            <p:ph type="sldNum" idx="12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8AAE9C0E-247F-E845-CDB3-26D67C46257D}" type="slidenum">
              <a:rPr lang="en-US"/>
              <a:t>2</a:t>
            </a:fld>
            <a:endParaRPr/>
          </a:p>
        </p:txBody>
      </p:sp>
      <p:sp>
        <p:nvSpPr>
          <p:cNvPr id="1534575273" name="Carré corné 3"/>
          <p:cNvSpPr/>
          <p:nvPr/>
        </p:nvSpPr>
        <p:spPr bwMode="auto">
          <a:xfrm rot="0" flipH="0" flipV="0">
            <a:off x="531825" y="1807306"/>
            <a:ext cx="1056297" cy="1440960"/>
          </a:xfrm>
          <a:prstGeom prst="foldedCorner">
            <a:avLst>
              <a:gd name="adj" fmla="val 16667"/>
            </a:avLst>
          </a:prstGeom>
          <a:solidFill>
            <a:schemeClr val="accent3">
              <a:lumMod val="20000"/>
              <a:lumOff val="80000"/>
            </a:schemeClr>
          </a:solidFill>
          <a:ln w="25400" cap="flat" cmpd="sng" algn="ctr">
            <a:solidFill>
              <a:schemeClr val="accent3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fr-FR">
                <a:solidFill>
                  <a:schemeClr val="accent3">
                    <a:lumMod val="75000"/>
                  </a:schemeClr>
                </a:solidFill>
              </a:rPr>
              <a:t>toward-rfc9363bis</a:t>
            </a:r>
            <a:endParaRPr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189876566" name="Google Shape;82;p1"/>
          <p:cNvSpPr txBox="1"/>
          <p:nvPr/>
        </p:nvSpPr>
        <p:spPr bwMode="auto">
          <a:xfrm flipH="0" flipV="0">
            <a:off x="341989" y="81293"/>
            <a:ext cx="7028298" cy="767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99" tIns="91399" rIns="91399" bIns="91399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Open Sans"/>
              <a:buNone/>
              <a:defRPr/>
            </a:pPr>
            <a:r>
              <a:rPr lang="fr-FR" sz="36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Drafts organisation</a:t>
            </a:r>
            <a:endParaRPr sz="3600">
              <a:solidFill>
                <a:schemeClr val="tx1"/>
              </a:solidFill>
            </a:endParaRPr>
          </a:p>
        </p:txBody>
      </p:sp>
      <p:sp>
        <p:nvSpPr>
          <p:cNvPr id="1073141127" name="Rectangle 5"/>
          <p:cNvSpPr txBox="1"/>
          <p:nvPr/>
        </p:nvSpPr>
        <p:spPr bwMode="auto">
          <a:xfrm rot="0" flipH="0" flipV="0">
            <a:off x="252465" y="3388700"/>
            <a:ext cx="1615018" cy="27467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interim-2026-schc-13</a:t>
            </a:r>
            <a:endParaRPr/>
          </a:p>
        </p:txBody>
      </p:sp>
      <p:sp>
        <p:nvSpPr>
          <p:cNvPr id="1113806893" name="Carré corné 6"/>
          <p:cNvSpPr/>
          <p:nvPr/>
        </p:nvSpPr>
        <p:spPr bwMode="auto">
          <a:xfrm rot="0" flipH="0" flipV="0">
            <a:off x="2601436" y="848700"/>
            <a:ext cx="1056297" cy="1440960"/>
          </a:xfrm>
          <a:prstGeom prst="foldedCorner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fr-FR">
                <a:solidFill>
                  <a:srgbClr val="00B050"/>
                </a:solidFill>
              </a:rPr>
              <a:t>Universal-option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511887220" name="Carré corné 7"/>
          <p:cNvSpPr/>
          <p:nvPr/>
        </p:nvSpPr>
        <p:spPr bwMode="auto">
          <a:xfrm rot="0" flipH="0" flipV="0">
            <a:off x="2601436" y="2527787"/>
            <a:ext cx="1056297" cy="1440960"/>
          </a:xfrm>
          <a:prstGeom prst="foldedCorner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fr-FR">
                <a:solidFill>
                  <a:srgbClr val="00B050"/>
                </a:solidFill>
              </a:rPr>
              <a:t>ICMPv6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667314525" name="Carré corné 8"/>
          <p:cNvSpPr/>
          <p:nvPr/>
        </p:nvSpPr>
        <p:spPr bwMode="auto">
          <a:xfrm rot="0" flipH="0" flipV="0">
            <a:off x="4090999" y="848700"/>
            <a:ext cx="1056297" cy="1440960"/>
          </a:xfrm>
          <a:prstGeom prst="foldedCorner">
            <a:avLst>
              <a:gd name="adj" fmla="val 16667"/>
            </a:avLst>
          </a:prstGeom>
          <a:solidFill>
            <a:schemeClr val="tx1">
              <a:lumMod val="10000"/>
              <a:lumOff val="90000"/>
            </a:schemeClr>
          </a:solidFill>
          <a:ln w="25400" cap="flat" cmpd="sng" algn="ctr">
            <a:solidFill>
              <a:schemeClr val="bg1">
                <a:lumMod val="74901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fr-FR">
                <a:solidFill>
                  <a:schemeClr val="bg1">
                    <a:lumMod val="75000"/>
                  </a:schemeClr>
                </a:solidFill>
              </a:rPr>
              <a:t>Coreconf-management</a:t>
            </a:r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8894057" name="Carré corné 9"/>
          <p:cNvSpPr/>
          <p:nvPr/>
        </p:nvSpPr>
        <p:spPr bwMode="auto">
          <a:xfrm rot="0" flipH="0" flipV="0">
            <a:off x="6313989" y="1807306"/>
            <a:ext cx="1056297" cy="1440960"/>
          </a:xfrm>
          <a:prstGeom prst="foldedCorner">
            <a:avLst>
              <a:gd name="adj" fmla="val 16667"/>
            </a:avLst>
          </a:prstGeom>
          <a:solidFill>
            <a:schemeClr val="tx1">
              <a:lumMod val="10000"/>
              <a:lumOff val="90000"/>
            </a:schemeClr>
          </a:solidFill>
          <a:ln w="25400" cap="flat" cmpd="sng" algn="ctr">
            <a:solidFill>
              <a:schemeClr val="bg1">
                <a:lumMod val="74901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fr-FR">
                <a:solidFill>
                  <a:schemeClr val="bg1">
                    <a:lumMod val="75000"/>
                  </a:schemeClr>
                </a:solidFill>
              </a:rPr>
              <a:t>RFC9363</a:t>
            </a:r>
            <a:endParaRPr>
              <a:solidFill>
                <a:schemeClr val="bg1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fr-FR">
                <a:solidFill>
                  <a:schemeClr val="bg1">
                    <a:lumMod val="75000"/>
                  </a:schemeClr>
                </a:solidFill>
              </a:rPr>
              <a:t>bis</a:t>
            </a:r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21249110" name="Accolade fermante 11"/>
          <p:cNvSpPr/>
          <p:nvPr/>
        </p:nvSpPr>
        <p:spPr bwMode="auto">
          <a:xfrm rot="0" flipH="0" flipV="0">
            <a:off x="5617931" y="842595"/>
            <a:ext cx="396873" cy="3193317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cxnSp>
        <p:nvCxnSpPr>
          <p:cNvPr id="2029309662" name="Ligne 12"/>
          <p:cNvCxnSpPr/>
          <p:nvPr/>
        </p:nvCxnSpPr>
        <p:spPr bwMode="auto">
          <a:xfrm flipH="0" flipV="0">
            <a:off x="2101008" y="842595"/>
            <a:ext cx="0" cy="3260478"/>
          </a:xfrm>
          <a:prstGeom prst="line">
            <a:avLst/>
          </a:prstGeom>
          <a:ln w="9525" cap="flat" cmpd="sng" algn="ctr">
            <a:solidFill>
              <a:srgbClr val="00548A"/>
            </a:solidFill>
            <a:prstDash val="sysDash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695170" name="Google Shape;82;p1"/>
          <p:cNvSpPr txBox="1"/>
          <p:nvPr>
            <p:ph type="title"/>
          </p:nvPr>
        </p:nvSpPr>
        <p:spPr bwMode="auto">
          <a:xfrm flipH="0" flipV="0">
            <a:off x="1410498" y="1119273"/>
            <a:ext cx="7028298" cy="933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98" tIns="91398" rIns="91398" bIns="91398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Open Sans"/>
              <a:buNone/>
              <a:defRPr/>
            </a:pPr>
            <a:r>
              <a:rPr lang="en-US" sz="3600" b="0" i="0" u="none" strike="noStrike" cap="none" spc="0">
                <a:solidFill>
                  <a:srgbClr val="FFFFFF"/>
                </a:solidFill>
                <a:latin typeface="Inter"/>
                <a:ea typeface="Inter"/>
                <a:cs typeface="Inter"/>
              </a:rPr>
              <a:t>draft-ietf-schc-universal-option-02</a:t>
            </a:r>
            <a:endParaRPr sz="3600"/>
          </a:p>
        </p:txBody>
      </p:sp>
      <p:sp>
        <p:nvSpPr>
          <p:cNvPr id="422788289" name="Google Shape;83;p1"/>
          <p:cNvSpPr txBox="1"/>
          <p:nvPr/>
        </p:nvSpPr>
        <p:spPr bwMode="auto">
          <a:xfrm>
            <a:off x="486916" y="254439"/>
            <a:ext cx="49869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99" tIns="91399" rIns="91399" bIns="913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/>
            </a:pPr>
            <a:r>
              <a:rPr lang="fr-FR" sz="21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Nov </a:t>
            </a:r>
            <a:r>
              <a:rPr lang="fr-FR" sz="21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17</a:t>
            </a:r>
            <a:r>
              <a:rPr lang="en-US" sz="2100" b="0" i="0" u="none" strike="noStrike" cap="none" baseline="30000">
                <a:solidFill>
                  <a:srgbClr val="FFFFFF"/>
                </a:solidFill>
                <a:latin typeface="Inter"/>
                <a:ea typeface="Inter"/>
                <a:cs typeface="Inter"/>
              </a:rPr>
              <a:t>th</a:t>
            </a:r>
            <a:r>
              <a:rPr lang="en-US" sz="21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, 2026</a:t>
            </a:r>
            <a:endParaRPr sz="11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20045070" name="Google Shape;84;p1"/>
          <p:cNvSpPr txBox="1"/>
          <p:nvPr/>
        </p:nvSpPr>
        <p:spPr bwMode="auto">
          <a:xfrm>
            <a:off x="191741" y="4416808"/>
            <a:ext cx="3783600" cy="44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91424" rIns="91424" bIns="91424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</a:rPr>
              <a:t>IETF 12</a:t>
            </a:r>
            <a:r>
              <a:rPr lang="fr-F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</a:rPr>
              <a:t>7</a:t>
            </a: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</a:rPr>
              <a:t>, </a:t>
            </a:r>
            <a:r>
              <a:rPr lang="fr-F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</a:rPr>
              <a:t>San Francisco</a:t>
            </a: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7869075" name="Google Shape;85;p1"/>
          <p:cNvSpPr txBox="1"/>
          <p:nvPr/>
        </p:nvSpPr>
        <p:spPr bwMode="auto">
          <a:xfrm flipH="0" flipV="0">
            <a:off x="707632" y="2318105"/>
            <a:ext cx="8085297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91424" rIns="91424" bIns="91424" anchor="t" anchorCtr="0">
            <a:noAutofit/>
          </a:bodyPr>
          <a:lstStyle/>
          <a:p>
            <a:pPr>
              <a:defRPr/>
            </a:pPr>
            <a:r>
              <a:rPr lang="en-US" sz="2400" b="0" i="0" u="none" strike="noStrike" cap="none">
                <a:solidFill>
                  <a:srgbClr val="FFF2CC"/>
                </a:solidFill>
                <a:latin typeface="Inter"/>
                <a:ea typeface="Inter"/>
                <a:cs typeface="Inter"/>
              </a:rPr>
              <a:t>Authors: </a:t>
            </a:r>
            <a:r>
              <a:rPr lang="en-US" sz="2400" b="0" i="0" u="none" strike="noStrike" cap="none" spc="0">
                <a:solidFill>
                  <a:srgbClr val="FFF2CC"/>
                </a:solidFill>
                <a:latin typeface="Inter"/>
                <a:ea typeface="Inter"/>
                <a:cs typeface="Inter"/>
              </a:rPr>
              <a:t> Q. Lampin</a:t>
            </a:r>
            <a:r>
              <a:rPr lang="fr-FR" sz="2400" b="0" i="0" u="none" strike="noStrike" cap="none" spc="0">
                <a:solidFill>
                  <a:srgbClr val="FFF2CC"/>
                </a:solidFill>
                <a:latin typeface="Inter"/>
                <a:cs typeface="Inter"/>
              </a:rPr>
              <a:t>, </a:t>
            </a:r>
            <a:r>
              <a:rPr lang="en-US" sz="2400" b="0" i="0" u="none" strike="noStrike" cap="none" spc="0">
                <a:solidFill>
                  <a:srgbClr val="FFF2CC"/>
                </a:solidFill>
                <a:latin typeface="Inter"/>
                <a:ea typeface="Inter"/>
                <a:cs typeface="Inter"/>
              </a:rPr>
              <a:t>A. Minaburo</a:t>
            </a:r>
            <a:r>
              <a:rPr lang="fr-FR" sz="2400" b="0" i="0" u="none" strike="noStrike" cap="none" spc="0">
                <a:solidFill>
                  <a:srgbClr val="FFF2CC"/>
                </a:solidFill>
                <a:latin typeface="Inter"/>
                <a:ea typeface="Inter"/>
                <a:cs typeface="Inter"/>
              </a:rPr>
              <a:t>, </a:t>
            </a:r>
            <a:r>
              <a:rPr lang="en-US" sz="2400" b="0" i="0" u="none" strike="noStrike" cap="none" spc="0">
                <a:solidFill>
                  <a:srgbClr val="FFF2CC"/>
                </a:solidFill>
                <a:latin typeface="Inter"/>
                <a:ea typeface="Inter"/>
                <a:cs typeface="Inter"/>
              </a:rPr>
              <a:t>M. Tiloca</a:t>
            </a:r>
            <a:r>
              <a:rPr lang="fr-FR" sz="2400" b="0" i="0" u="none" strike="noStrike" cap="none" spc="0">
                <a:solidFill>
                  <a:srgbClr val="FFF2CC"/>
                </a:solidFill>
                <a:latin typeface="Inter"/>
                <a:ea typeface="Inter"/>
                <a:cs typeface="Inter"/>
              </a:rPr>
              <a:t>,</a:t>
            </a:r>
            <a:r>
              <a:rPr lang="en-US" sz="2400" b="0" i="0" u="none" strike="noStrike" cap="none" spc="0">
                <a:solidFill>
                  <a:srgbClr val="FFF2CC"/>
                </a:solidFill>
                <a:latin typeface="Inter"/>
                <a:ea typeface="Inter"/>
                <a:cs typeface="Inter"/>
              </a:rPr>
              <a:t> L. Toutain</a:t>
            </a:r>
            <a:r>
              <a:rPr lang="fr-FR" sz="2400" b="0" i="0" u="none" strike="noStrike" cap="none" spc="0">
                <a:solidFill>
                  <a:srgbClr val="FFF2CC"/>
                </a:solidFill>
                <a:latin typeface="Inter"/>
                <a:ea typeface="Inter"/>
                <a:cs typeface="Inter"/>
              </a:rPr>
              <a:t>, </a:t>
            </a:r>
            <a:r>
              <a:rPr lang="en-US" sz="2400" b="0" i="0" u="none" strike="noStrike" cap="none" spc="0">
                <a:solidFill>
                  <a:srgbClr val="FFF2CC"/>
                </a:solidFill>
                <a:latin typeface="Inter"/>
                <a:ea typeface="Inter"/>
                <a:cs typeface="Inter"/>
              </a:rPr>
              <a:t>                                                               S. Sirohi</a:t>
            </a:r>
            <a:endParaRPr lang="en-US" sz="2400" b="0" i="0" u="none" strike="noStrike" cap="none" spc="0">
              <a:solidFill>
                <a:srgbClr val="FFF2CC"/>
              </a:solidFill>
              <a:latin typeface="Inter"/>
              <a:cs typeface="Inter"/>
            </a:endParaRPr>
          </a:p>
        </p:txBody>
      </p:sp>
      <p:pic>
        <p:nvPicPr>
          <p:cNvPr id="1570717435" name="Google Shape;86;p1"/>
          <p:cNvPicPr/>
          <p:nvPr/>
        </p:nvPicPr>
        <p:blipFill rotWithShape="1">
          <a:blip r:embed="rId3">
            <a:alphaModFix/>
          </a:blip>
          <a:srcRect l="9711" t="41600" r="22260" b="24843"/>
          <a:stretch/>
        </p:blipFill>
        <p:spPr bwMode="auto">
          <a:xfrm>
            <a:off x="3247924" y="4253648"/>
            <a:ext cx="2861895" cy="767620"/>
          </a:xfrm>
          <a:prstGeom prst="rect">
            <a:avLst/>
          </a:prstGeom>
          <a:noFill/>
          <a:ln>
            <a:noFill/>
          </a:ln>
        </p:spPr>
      </p:pic>
      <p:sp>
        <p:nvSpPr>
          <p:cNvPr id="1378941242" name="Google Shape;87;p1"/>
          <p:cNvSpPr txBox="1"/>
          <p:nvPr/>
        </p:nvSpPr>
        <p:spPr bwMode="auto">
          <a:xfrm>
            <a:off x="707634" y="3178279"/>
            <a:ext cx="57249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91424" rIns="91424" bIns="91424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/>
            </a:pPr>
            <a:r>
              <a:rPr lang="en-US" sz="2400" b="0" i="0" u="none" strike="noStrike" cap="none">
                <a:solidFill>
                  <a:srgbClr val="FFF2CC"/>
                </a:solidFill>
                <a:latin typeface="Inter"/>
                <a:ea typeface="Inter"/>
                <a:cs typeface="Inter"/>
              </a:rPr>
              <a:t>Presenter: L. Toutain</a:t>
            </a:r>
            <a:endParaRPr sz="2400" b="0" i="0" u="none" strike="noStrike" cap="none">
              <a:solidFill>
                <a:srgbClr val="FFF2CC"/>
              </a:solidFill>
              <a:latin typeface="Inter"/>
              <a:ea typeface="Inter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2821" name="Google Shape;17;p7"/>
          <p:cNvSpPr txBox="1"/>
          <p:nvPr>
            <p:ph type="body" idx="1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4602659" name="Google Shape;18;p7"/>
          <p:cNvSpPr txBox="1"/>
          <p:nvPr>
            <p:ph type="sldNum" idx="12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A5256084-C436-F243-0549-1CA564B92C30}" type="slidenum">
              <a:rPr lang="en-US"/>
              <a:t>2</a:t>
            </a:fld>
            <a:endParaRPr/>
          </a:p>
        </p:txBody>
      </p:sp>
      <p:sp>
        <p:nvSpPr>
          <p:cNvPr id="819695455" name="Rectangle 3"/>
          <p:cNvSpPr txBox="1"/>
          <p:nvPr/>
        </p:nvSpPr>
        <p:spPr bwMode="auto">
          <a:xfrm rot="0" flipH="0" flipV="0">
            <a:off x="57150" y="112270"/>
            <a:ext cx="4193159" cy="1905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700" b="1">
                <a:latin typeface="Courier New"/>
                <a:ea typeface="Courier New"/>
                <a:cs typeface="Courier New"/>
              </a:rPr>
              <a:t>  /-----------------------------------------------------------------\</a:t>
            </a:r>
            <a:endParaRPr sz="700" b="1">
              <a:latin typeface="Courier New"/>
              <a:cs typeface="Courier New"/>
            </a:endParaRPr>
          </a:p>
          <a:p>
            <a:pPr algn="l">
              <a:defRPr/>
            </a:pPr>
            <a:r>
              <a:rPr sz="700" b="1">
                <a:latin typeface="Courier New"/>
                <a:ea typeface="Courier New"/>
                <a:cs typeface="Courier New"/>
              </a:rPr>
              <a:t>  |                         Rule N                                  |</a:t>
            </a:r>
            <a:endParaRPr sz="700" b="1">
              <a:latin typeface="Courier New"/>
              <a:cs typeface="Courier New"/>
            </a:endParaRPr>
          </a:p>
          <a:p>
            <a:pPr algn="l">
              <a:defRPr/>
            </a:pPr>
            <a:r>
              <a:rPr sz="700" b="1">
                <a:latin typeface="Courier New"/>
                <a:ea typeface="Courier New"/>
                <a:cs typeface="Courier New"/>
              </a:rPr>
              <a:t> /-----------------------------------------------------------------\|</a:t>
            </a:r>
            <a:endParaRPr sz="700" b="1">
              <a:latin typeface="Courier New"/>
              <a:cs typeface="Courier New"/>
            </a:endParaRPr>
          </a:p>
          <a:p>
            <a:pPr algn="l">
              <a:defRPr/>
            </a:pPr>
            <a:r>
              <a:rPr sz="700" b="1">
                <a:latin typeface="Courier New"/>
                <a:ea typeface="Courier New"/>
                <a:cs typeface="Courier New"/>
              </a:rPr>
              <a:t> |                       Rule i                                    ||</a:t>
            </a:r>
            <a:endParaRPr sz="700" b="1">
              <a:latin typeface="Courier New"/>
              <a:cs typeface="Courier New"/>
            </a:endParaRPr>
          </a:p>
          <a:p>
            <a:pPr algn="l">
              <a:defRPr/>
            </a:pPr>
            <a:r>
              <a:rPr sz="700" b="1">
                <a:latin typeface="Courier New"/>
                <a:ea typeface="Courier New"/>
                <a:cs typeface="Courier New"/>
              </a:rPr>
              <a:t>/-----------------------------------------------------------------\||</a:t>
            </a:r>
            <a:endParaRPr sz="700" b="1">
              <a:latin typeface="Courier New"/>
              <a:cs typeface="Courier New"/>
            </a:endParaRPr>
          </a:p>
          <a:p>
            <a:pPr algn="l">
              <a:defRPr/>
            </a:pPr>
            <a:r>
              <a:rPr sz="700" b="1">
                <a:latin typeface="Courier New"/>
                <a:ea typeface="Courier New"/>
                <a:cs typeface="Courier New"/>
              </a:rPr>
              <a:t>|  (FID)            Rule 1                                        |||</a:t>
            </a:r>
            <a:endParaRPr sz="700" b="1">
              <a:latin typeface="Courier New"/>
              <a:cs typeface="Courier New"/>
            </a:endParaRPr>
          </a:p>
          <a:p>
            <a:pPr algn="l">
              <a:defRPr/>
            </a:pPr>
            <a:r>
              <a:rPr sz="700" b="1">
                <a:latin typeface="Courier New"/>
                <a:ea typeface="Courier New"/>
                <a:cs typeface="Courier New"/>
              </a:rPr>
              <a:t>|+-------+--+--+--+------------+-----------------+---------------+|||</a:t>
            </a:r>
            <a:endParaRPr sz="700" b="1">
              <a:latin typeface="Courier New"/>
              <a:cs typeface="Courier New"/>
            </a:endParaRPr>
          </a:p>
          <a:p>
            <a:pPr algn="l">
              <a:defRPr/>
            </a:pPr>
            <a:r>
              <a:rPr sz="700" b="1">
                <a:latin typeface="Courier New"/>
                <a:ea typeface="Courier New"/>
                <a:cs typeface="Courier New"/>
              </a:rPr>
              <a:t>||Field 1|FL|FP|DI|Target Value|Matching Operator|Comp/Decomp Act||||</a:t>
            </a:r>
            <a:endParaRPr sz="700" b="1">
              <a:latin typeface="Courier New"/>
              <a:cs typeface="Courier New"/>
            </a:endParaRPr>
          </a:p>
          <a:p>
            <a:pPr algn="l">
              <a:defRPr/>
            </a:pPr>
            <a:r>
              <a:rPr sz="700" b="1">
                <a:latin typeface="Courier New"/>
                <a:ea typeface="Courier New"/>
                <a:cs typeface="Courier New"/>
              </a:rPr>
              <a:t>|+-------+--+--+--+------------+-----------------+---------------+|||</a:t>
            </a:r>
            <a:endParaRPr sz="700" b="1">
              <a:latin typeface="Courier New"/>
              <a:cs typeface="Courier New"/>
            </a:endParaRPr>
          </a:p>
          <a:p>
            <a:pPr algn="l">
              <a:defRPr/>
            </a:pPr>
            <a:r>
              <a:rPr sz="700" b="1">
                <a:latin typeface="Courier New"/>
                <a:ea typeface="Courier New"/>
                <a:cs typeface="Courier New"/>
              </a:rPr>
              <a:t>||Field 2|FL|FP|DI|Target Value|Matching Operator|Comp/Decomp Act||||</a:t>
            </a:r>
            <a:endParaRPr sz="700" b="1">
              <a:latin typeface="Courier New"/>
              <a:cs typeface="Courier New"/>
            </a:endParaRPr>
          </a:p>
          <a:p>
            <a:pPr algn="l">
              <a:defRPr/>
            </a:pPr>
            <a:r>
              <a:rPr sz="700" b="1">
                <a:latin typeface="Courier New"/>
                <a:ea typeface="Courier New"/>
                <a:cs typeface="Courier New"/>
              </a:rPr>
              <a:t>|+-------+--+--+--+------------+-----------------+---------------+|||</a:t>
            </a:r>
            <a:endParaRPr sz="700" b="1">
              <a:latin typeface="Courier New"/>
              <a:cs typeface="Courier New"/>
            </a:endParaRPr>
          </a:p>
          <a:p>
            <a:pPr algn="l">
              <a:defRPr/>
            </a:pPr>
            <a:r>
              <a:rPr sz="700" b="1">
                <a:latin typeface="Courier New"/>
                <a:ea typeface="Courier New"/>
                <a:cs typeface="Courier New"/>
              </a:rPr>
              <a:t>||...    |..|..|..|   ...      | ...             | ...           ||||</a:t>
            </a:r>
            <a:endParaRPr sz="700" b="1">
              <a:latin typeface="Courier New"/>
              <a:cs typeface="Courier New"/>
            </a:endParaRPr>
          </a:p>
          <a:p>
            <a:pPr algn="l">
              <a:defRPr/>
            </a:pPr>
            <a:r>
              <a:rPr sz="700" b="1">
                <a:latin typeface="Courier New"/>
                <a:ea typeface="Courier New"/>
                <a:cs typeface="Courier New"/>
              </a:rPr>
              <a:t>|+-------+--+--+--+------------+-----------------+---------------+||/</a:t>
            </a:r>
            <a:endParaRPr sz="700" b="1">
              <a:latin typeface="Courier New"/>
              <a:cs typeface="Courier New"/>
            </a:endParaRPr>
          </a:p>
          <a:p>
            <a:pPr algn="l">
              <a:defRPr/>
            </a:pPr>
            <a:r>
              <a:rPr sz="700" b="1">
                <a:latin typeface="Courier New"/>
                <a:ea typeface="Courier New"/>
                <a:cs typeface="Courier New"/>
              </a:rPr>
              <a:t>||Field N|FL|FP|DI|Target Value|Matching Operator|Comp/Decomp Act|||</a:t>
            </a:r>
            <a:endParaRPr sz="700" b="1">
              <a:latin typeface="Courier New"/>
              <a:cs typeface="Courier New"/>
            </a:endParaRPr>
          </a:p>
          <a:p>
            <a:pPr algn="l">
              <a:defRPr/>
            </a:pPr>
            <a:r>
              <a:rPr sz="700" b="1">
                <a:latin typeface="Courier New"/>
                <a:ea typeface="Courier New"/>
                <a:cs typeface="Courier New"/>
              </a:rPr>
              <a:t>|+-------+--+--+--+------------+-----------------+---------------+|/</a:t>
            </a:r>
            <a:endParaRPr sz="700" b="1">
              <a:latin typeface="Courier New"/>
              <a:cs typeface="Courier New"/>
            </a:endParaRPr>
          </a:p>
          <a:p>
            <a:pPr algn="l">
              <a:defRPr/>
            </a:pPr>
            <a:r>
              <a:rPr sz="700" b="1">
                <a:latin typeface="Courier New"/>
                <a:ea typeface="Courier New"/>
                <a:cs typeface="Courier New"/>
              </a:rPr>
              <a:t>|                                                                 |</a:t>
            </a:r>
            <a:endParaRPr sz="700" b="1">
              <a:latin typeface="Courier New"/>
              <a:cs typeface="Courier New"/>
            </a:endParaRPr>
          </a:p>
          <a:p>
            <a:pPr algn="l">
              <a:defRPr/>
            </a:pPr>
            <a:r>
              <a:rPr sz="700" b="1">
                <a:latin typeface="Courier New"/>
                <a:ea typeface="Courier New"/>
                <a:cs typeface="Courier New"/>
              </a:rPr>
              <a:t>\-----------------------------------------------------------------/</a:t>
            </a:r>
            <a:endParaRPr sz="700" b="1">
              <a:latin typeface="Courier New"/>
              <a:cs typeface="Courier New"/>
            </a:endParaRPr>
          </a:p>
        </p:txBody>
      </p:sp>
      <p:sp>
        <p:nvSpPr>
          <p:cNvPr id="925007111" name="Shape 4"/>
          <p:cNvSpPr/>
          <p:nvPr/>
        </p:nvSpPr>
        <p:spPr bwMode="auto">
          <a:xfrm>
            <a:off x="3153484" y="112270"/>
            <a:ext cx="6120064" cy="2682599"/>
          </a:xfrm>
          <a:prstGeom prst="rect">
            <a:avLst/>
          </a:prstGeom>
          <a:solidFill>
            <a:schemeClr val="accent4">
              <a:alpha val="99999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x--:(compression) {compression}?</a:t>
            </a:r>
            <a:endParaRPr sz="1000"/>
          </a:p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x--rw entry* [field-id field-position direction-indicator]</a:t>
            </a:r>
            <a:endParaRPr sz="1000"/>
          </a:p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field-id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schc:fid-type</a:t>
            </a:r>
            <a:endParaRPr sz="1000"/>
          </a:p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field-length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union</a:t>
            </a:r>
            <a:endParaRPr sz="1000"/>
          </a:p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field-position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uint8</a:t>
            </a:r>
            <a:endParaRPr sz="1000"/>
          </a:p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direction-indicator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schc:di-type</a:t>
            </a:r>
            <a:endParaRPr sz="1000"/>
          </a:p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target-value* [index]</a:t>
            </a:r>
            <a:endParaRPr sz="1000"/>
          </a:p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index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uint16</a:t>
            </a:r>
            <a:endParaRPr sz="1000"/>
          </a:p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value?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binary</a:t>
            </a:r>
            <a:endParaRPr sz="1000"/>
          </a:p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matching-operator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schc:mo-type</a:t>
            </a:r>
            <a:endParaRPr sz="1000"/>
          </a:p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matching-operator-value* [index]</a:t>
            </a:r>
            <a:endParaRPr sz="1000"/>
          </a:p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index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uint16</a:t>
            </a:r>
            <a:endParaRPr sz="1000"/>
          </a:p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value?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binary</a:t>
            </a:r>
            <a:endParaRPr sz="1000"/>
          </a:p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comp-decomp-action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schc:cda-type</a:t>
            </a:r>
            <a:endParaRPr sz="1000"/>
          </a:p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comp-decomp-action-value* [index]</a:t>
            </a:r>
            <a:endParaRPr sz="1000"/>
          </a:p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index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uint16</a:t>
            </a:r>
            <a:endParaRPr sz="1000"/>
          </a:p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value?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10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binary</a:t>
            </a:r>
            <a:endParaRPr sz="1000"/>
          </a:p>
        </p:txBody>
      </p:sp>
      <p:sp>
        <p:nvSpPr>
          <p:cNvPr id="1138324060" name="Rectangle 5"/>
          <p:cNvSpPr/>
          <p:nvPr/>
        </p:nvSpPr>
        <p:spPr bwMode="auto">
          <a:xfrm rot="0" flipH="0" flipV="0">
            <a:off x="232643" y="885336"/>
            <a:ext cx="384663" cy="134326"/>
          </a:xfrm>
          <a:prstGeom prst="rect">
            <a:avLst/>
          </a:prstGeom>
          <a:solidFill>
            <a:schemeClr val="accent1">
              <a:alpha val="42000"/>
            </a:schemeClr>
          </a:solidFill>
          <a:ln w="254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7588152" name="Rectangle 6"/>
          <p:cNvSpPr txBox="1"/>
          <p:nvPr/>
        </p:nvSpPr>
        <p:spPr bwMode="auto">
          <a:xfrm rot="0" flipH="0" flipV="0">
            <a:off x="220374" y="2528600"/>
            <a:ext cx="4027775" cy="731879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Field ID : definied as an identity in the YANG DM</a:t>
            </a:r>
            <a:endParaRPr lang="fr-FR"/>
          </a:p>
          <a:p>
            <a:pPr marL="239821" indent="-239821">
              <a:buFont typeface="Arial"/>
              <a:buChar char="•"/>
              <a:defRPr/>
            </a:pPr>
            <a:r>
              <a:rPr lang="fr-FR"/>
              <a:t>Evolution is difficult</a:t>
            </a:r>
            <a:endParaRPr lang="fr-FR"/>
          </a:p>
          <a:p>
            <a:pPr>
              <a:defRPr/>
            </a:pPr>
            <a:r>
              <a:rPr lang="fr-FR"/>
              <a:t>Universal Option : Space ID and option number.</a:t>
            </a:r>
            <a:endParaRPr/>
          </a:p>
        </p:txBody>
      </p:sp>
      <p:sp>
        <p:nvSpPr>
          <p:cNvPr id="1386781621" name="Rectangle 7"/>
          <p:cNvSpPr/>
          <p:nvPr/>
        </p:nvSpPr>
        <p:spPr bwMode="auto">
          <a:xfrm rot="0" flipH="0" flipV="0">
            <a:off x="214326" y="1520336"/>
            <a:ext cx="421297" cy="140432"/>
          </a:xfrm>
          <a:prstGeom prst="rect">
            <a:avLst/>
          </a:prstGeom>
          <a:solidFill>
            <a:schemeClr val="accent2">
              <a:lumMod val="60000"/>
              <a:lumOff val="40000"/>
              <a:alpha val="42000"/>
            </a:schemeClr>
          </a:solidFill>
          <a:ln w="254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328993" name="Rectangle 8"/>
          <p:cNvSpPr/>
          <p:nvPr/>
        </p:nvSpPr>
        <p:spPr bwMode="auto">
          <a:xfrm rot="0" flipH="0" flipV="0">
            <a:off x="788023" y="1520336"/>
            <a:ext cx="317745" cy="140431"/>
          </a:xfrm>
          <a:prstGeom prst="rect">
            <a:avLst/>
          </a:prstGeom>
          <a:solidFill>
            <a:schemeClr val="accent2">
              <a:lumMod val="60000"/>
              <a:lumOff val="40000"/>
              <a:alpha val="42000"/>
            </a:schemeClr>
          </a:solidFill>
          <a:ln w="254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366650" name="Rectangle 9"/>
          <p:cNvSpPr txBox="1"/>
          <p:nvPr/>
        </p:nvSpPr>
        <p:spPr bwMode="auto">
          <a:xfrm rot="0" flipH="0" flipV="0">
            <a:off x="757740" y="3681778"/>
            <a:ext cx="914400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615251382" name="Rectangle 10"/>
          <p:cNvSpPr/>
          <p:nvPr/>
        </p:nvSpPr>
        <p:spPr bwMode="auto">
          <a:xfrm rot="0" flipH="0" flipV="0">
            <a:off x="4994899" y="463793"/>
            <a:ext cx="653561" cy="134325"/>
          </a:xfrm>
          <a:prstGeom prst="rect">
            <a:avLst/>
          </a:prstGeom>
          <a:solidFill>
            <a:schemeClr val="accent1">
              <a:alpha val="42000"/>
            </a:schemeClr>
          </a:solidFill>
          <a:ln w="254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89079252" name="Rectangle 11"/>
          <p:cNvSpPr/>
          <p:nvPr/>
        </p:nvSpPr>
        <p:spPr bwMode="auto">
          <a:xfrm rot="0" flipH="0" flipV="0">
            <a:off x="5373456" y="323361"/>
            <a:ext cx="3266831" cy="140431"/>
          </a:xfrm>
          <a:prstGeom prst="rect">
            <a:avLst/>
          </a:prstGeom>
          <a:solidFill>
            <a:schemeClr val="accent2">
              <a:lumMod val="60000"/>
              <a:lumOff val="40000"/>
              <a:alpha val="42000"/>
            </a:schemeClr>
          </a:solidFill>
          <a:ln w="254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39220138" name="Rectangle 12"/>
          <p:cNvSpPr txBox="1"/>
          <p:nvPr/>
        </p:nvSpPr>
        <p:spPr bwMode="auto">
          <a:xfrm rot="0" flipH="0" flipV="0">
            <a:off x="214326" y="3361738"/>
            <a:ext cx="4061181" cy="11585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Compression entry’s key : 3 elements</a:t>
            </a:r>
            <a:endParaRPr lang="fr-FR"/>
          </a:p>
          <a:p>
            <a:pPr marL="239821" indent="-239821">
              <a:buFont typeface="Arial"/>
              <a:buChar char="•"/>
              <a:defRPr/>
            </a:pPr>
            <a:r>
              <a:rPr lang="fr-FR"/>
              <a:t>Long sequence in CORECONF messages</a:t>
            </a:r>
            <a:endParaRPr lang="fr-FR"/>
          </a:p>
          <a:p>
            <a:pPr marL="239821" indent="-239821">
              <a:buFont typeface="Arial"/>
              <a:buChar char="•"/>
              <a:defRPr/>
            </a:pPr>
            <a:r>
              <a:rPr lang="fr-FR"/>
              <a:t>Independant of the position in rule</a:t>
            </a:r>
            <a:endParaRPr lang="fr-FR"/>
          </a:p>
          <a:p>
            <a:pPr>
              <a:defRPr/>
            </a:pPr>
            <a:r>
              <a:rPr lang="fr-FR"/>
              <a:t>Universal Option =&gt; add another element</a:t>
            </a:r>
            <a:endParaRPr lang="fr-FR"/>
          </a:p>
          <a:p>
            <a:pPr>
              <a:defRPr/>
            </a:pPr>
            <a:r>
              <a:rPr lang="fr-FR"/>
              <a:t>Change the key structure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408112" name="Google Shape;17;p7"/>
          <p:cNvSpPr txBox="1"/>
          <p:nvPr>
            <p:ph type="body" idx="1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fr-FR"/>
              <a:t>Compression-universal</a:t>
            </a:r>
            <a:endParaRPr/>
          </a:p>
        </p:txBody>
      </p:sp>
      <p:sp>
        <p:nvSpPr>
          <p:cNvPr id="1292259043" name="Google Shape;18;p7"/>
          <p:cNvSpPr txBox="1"/>
          <p:nvPr>
            <p:ph type="sldNum" idx="12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262472B9-D1B0-7958-9CE4-0A4E35473586}" type="slidenum">
              <a:rPr lang="en-US"/>
              <a:t>6</a:t>
            </a:fld>
            <a:endParaRPr/>
          </a:p>
        </p:txBody>
      </p:sp>
      <p:sp>
        <p:nvSpPr>
          <p:cNvPr id="1614844164" name="Shape 3"/>
          <p:cNvSpPr/>
          <p:nvPr/>
        </p:nvSpPr>
        <p:spPr bwMode="auto">
          <a:xfrm flipH="0" flipV="0">
            <a:off x="-431311" y="434183"/>
            <a:ext cx="4163281" cy="20120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x--:(compression) {compression}?</a:t>
            </a:r>
            <a:endParaRPr sz="700"/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x--rw entry* [field-id field-position direction-indicator]</a:t>
            </a:r>
            <a:endParaRPr sz="700"/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field-id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schc:fid-type</a:t>
            </a:r>
            <a:endParaRPr sz="700"/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field-length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union</a:t>
            </a:r>
            <a:endParaRPr sz="700"/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field-position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uint8</a:t>
            </a:r>
            <a:endParaRPr sz="700"/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direction-indicator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schc:di-type</a:t>
            </a:r>
            <a:endParaRPr sz="700"/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target-value* [index]</a:t>
            </a:r>
            <a:endParaRPr sz="700"/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index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uint16</a:t>
            </a:r>
            <a:endParaRPr sz="700"/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value?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binary</a:t>
            </a:r>
            <a:endParaRPr sz="700"/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matching-operator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schc:mo-type</a:t>
            </a:r>
            <a:endParaRPr sz="700"/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matching-operator-value* [index]</a:t>
            </a:r>
            <a:endParaRPr sz="700"/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index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uint16</a:t>
            </a:r>
            <a:endParaRPr sz="700"/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value?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binary</a:t>
            </a:r>
            <a:endParaRPr sz="700"/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comp-decomp-action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schc:cda-type</a:t>
            </a:r>
            <a:endParaRPr sz="700"/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comp-decomp-action-value* [index]</a:t>
            </a:r>
            <a:endParaRPr sz="700"/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index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uint16</a:t>
            </a:r>
            <a:endParaRPr sz="700"/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value?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binary</a:t>
            </a:r>
            <a:endParaRPr sz="700"/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</a:t>
            </a:r>
            <a:endParaRPr sz="700"/>
          </a:p>
        </p:txBody>
      </p:sp>
      <p:sp>
        <p:nvSpPr>
          <p:cNvPr id="2093818464" name="Shape 4"/>
          <p:cNvSpPr/>
          <p:nvPr/>
        </p:nvSpPr>
        <p:spPr bwMode="auto">
          <a:xfrm flipH="0" flipV="0">
            <a:off x="4471034" y="434183"/>
            <a:ext cx="4264392" cy="3185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x--:(compression) {compression}?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+--:(compression-universal) {compression or management}?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entry-universal* [entry-index]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entry-index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uint16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(field-or-space)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+--:(regular-field)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field-id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schc:fid-type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+--:(universal-option)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space-id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schc:space-id-type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universal-value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uint64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field-length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union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field-length-value?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uint16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field-position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uint8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direction-indicator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schc:di-type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target-value* [index]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index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uint16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value?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binary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matching-operator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schc:mo-type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matching-operator-value* [index]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index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uint16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value?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binary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comp-decomp-action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schc:cda-type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comp-decomp-action-value* [index]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index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uint16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|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value?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binary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action?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action-type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action-value* [index]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index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uint16</a:t>
            </a:r>
            <a:endParaRPr sz="700">
              <a:latin typeface="Menlo"/>
              <a:ea typeface="Menlo"/>
              <a:cs typeface="Menlo"/>
            </a:endParaRPr>
          </a:p>
          <a:p>
            <a:pPr>
              <a:defRPr/>
            </a:pP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           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+--rw value?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  </a:t>
            </a:r>
            <a:r>
              <a:rPr sz="700" b="0" i="0" u="none">
                <a:solidFill>
                  <a:srgbClr val="000000"/>
                </a:solidFill>
                <a:latin typeface="Menlo"/>
                <a:ea typeface="Menlo"/>
                <a:cs typeface="Menlo"/>
              </a:rPr>
              <a:t>binary</a:t>
            </a:r>
            <a:endParaRPr sz="700">
              <a:latin typeface="Menlo"/>
              <a:ea typeface="Menlo"/>
              <a:cs typeface="Menlo"/>
            </a:endParaRPr>
          </a:p>
        </p:txBody>
      </p:sp>
      <p:sp>
        <p:nvSpPr>
          <p:cNvPr id="1260300988" name="Rectangle 5"/>
          <p:cNvSpPr txBox="1"/>
          <p:nvPr/>
        </p:nvSpPr>
        <p:spPr bwMode="auto">
          <a:xfrm rot="0" flipH="0" flipV="0">
            <a:off x="1374422" y="129023"/>
            <a:ext cx="11028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Deprecated</a:t>
            </a:r>
            <a:endParaRPr/>
          </a:p>
        </p:txBody>
      </p:sp>
      <p:sp>
        <p:nvSpPr>
          <p:cNvPr id="1742728803" name="Rectangle 6"/>
          <p:cNvSpPr/>
          <p:nvPr/>
        </p:nvSpPr>
        <p:spPr bwMode="auto">
          <a:xfrm rot="0" flipH="0" flipV="0">
            <a:off x="6533798" y="653072"/>
            <a:ext cx="781538" cy="140431"/>
          </a:xfrm>
          <a:prstGeom prst="rect">
            <a:avLst/>
          </a:prstGeom>
          <a:solidFill>
            <a:schemeClr val="accent2">
              <a:lumMod val="60000"/>
              <a:lumOff val="40000"/>
              <a:alpha val="42000"/>
            </a:schemeClr>
          </a:solidFill>
          <a:ln w="254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1783431" name="Rectangle 7"/>
          <p:cNvSpPr/>
          <p:nvPr/>
        </p:nvSpPr>
        <p:spPr bwMode="auto">
          <a:xfrm rot="0" flipH="0" flipV="0">
            <a:off x="1136053" y="582856"/>
            <a:ext cx="2338753" cy="140431"/>
          </a:xfrm>
          <a:prstGeom prst="rect">
            <a:avLst/>
          </a:prstGeom>
          <a:solidFill>
            <a:schemeClr val="accent2">
              <a:lumMod val="60000"/>
              <a:lumOff val="40000"/>
              <a:alpha val="42000"/>
            </a:schemeClr>
          </a:solidFill>
          <a:ln w="254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66739571" name="Rectangle 8"/>
          <p:cNvSpPr/>
          <p:nvPr/>
        </p:nvSpPr>
        <p:spPr bwMode="auto">
          <a:xfrm rot="0" flipH="0" flipV="0">
            <a:off x="5617688" y="1031385"/>
            <a:ext cx="2705099" cy="513374"/>
          </a:xfrm>
          <a:prstGeom prst="rect">
            <a:avLst/>
          </a:prstGeom>
          <a:solidFill>
            <a:schemeClr val="accent6">
              <a:lumMod val="20000"/>
              <a:lumOff val="80000"/>
              <a:alpha val="42000"/>
            </a:schemeClr>
          </a:solidFill>
          <a:ln w="254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76215519" name="Rectangle 9"/>
          <p:cNvSpPr txBox="1"/>
          <p:nvPr/>
        </p:nvSpPr>
        <p:spPr bwMode="auto">
          <a:xfrm rot="0" flipH="0" flipV="0">
            <a:off x="412906" y="2446223"/>
            <a:ext cx="1923032" cy="3051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Key is a single integer</a:t>
            </a:r>
            <a:endParaRPr/>
          </a:p>
        </p:txBody>
      </p:sp>
      <p:sp>
        <p:nvSpPr>
          <p:cNvPr id="2108133909" name="Rectangle 10"/>
          <p:cNvSpPr txBox="1"/>
          <p:nvPr/>
        </p:nvSpPr>
        <p:spPr bwMode="auto">
          <a:xfrm rot="0" flipH="0" flipV="0">
            <a:off x="412906" y="2814759"/>
            <a:ext cx="2555398" cy="9452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FID is either :</a:t>
            </a:r>
            <a:endParaRPr lang="fr-FR"/>
          </a:p>
          <a:p>
            <a:pPr marL="239821" indent="-239821">
              <a:buFont typeface="Arial"/>
              <a:buChar char="•"/>
              <a:defRPr/>
            </a:pPr>
            <a:r>
              <a:rPr lang="fr-FR"/>
              <a:t>Fid-*</a:t>
            </a:r>
            <a:endParaRPr lang="fr-FR"/>
          </a:p>
          <a:p>
            <a:pPr marL="239821" indent="-239821">
              <a:buFont typeface="Arial"/>
              <a:buChar char="•"/>
              <a:defRPr/>
            </a:pPr>
            <a:r>
              <a:rPr lang="fr-FR"/>
              <a:t>Space-id, option</a:t>
            </a:r>
            <a:endParaRPr lang="fr-FR"/>
          </a:p>
          <a:p>
            <a:pPr>
              <a:defRPr/>
            </a:pPr>
            <a:r>
              <a:rPr lang="fr-FR"/>
              <a:t>Old CoAP FID are deprecated</a:t>
            </a:r>
            <a:endParaRPr/>
          </a:p>
        </p:txBody>
      </p:sp>
      <p:sp>
        <p:nvSpPr>
          <p:cNvPr id="15487373" name="Rectangle 11"/>
          <p:cNvSpPr txBox="1"/>
          <p:nvPr/>
        </p:nvSpPr>
        <p:spPr bwMode="auto">
          <a:xfrm rot="0" flipH="0" flipV="0">
            <a:off x="412906" y="3822211"/>
            <a:ext cx="2103209" cy="7318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New Function Length :</a:t>
            </a:r>
            <a:endParaRPr lang="fr-FR"/>
          </a:p>
          <a:p>
            <a:pPr marL="239821" indent="-239821">
              <a:buFont typeface="Arial"/>
              <a:buChar char="•"/>
              <a:defRPr/>
            </a:pPr>
            <a:r>
              <a:rPr lang="fr-FR"/>
              <a:t>fl-lenght-bytes (entry) </a:t>
            </a:r>
            <a:endParaRPr lang="fr-FR"/>
          </a:p>
          <a:p>
            <a:pPr marL="239821" indent="-239821">
              <a:buFont typeface="Arial"/>
              <a:buChar char="•"/>
              <a:defRPr/>
            </a:pPr>
            <a:r>
              <a:rPr lang="fr-FR"/>
              <a:t>fl-length-bits</a:t>
            </a:r>
            <a:r>
              <a:rPr lang="fr-FR"/>
              <a:t> (entry)</a:t>
            </a:r>
            <a:endParaRPr lang="fr-FR"/>
          </a:p>
        </p:txBody>
      </p:sp>
      <p:sp>
        <p:nvSpPr>
          <p:cNvPr id="746860972" name="Rectangle 12"/>
          <p:cNvSpPr/>
          <p:nvPr/>
        </p:nvSpPr>
        <p:spPr bwMode="auto">
          <a:xfrm rot="0" flipH="0" flipV="0">
            <a:off x="5666534" y="1544759"/>
            <a:ext cx="2656253" cy="213701"/>
          </a:xfrm>
          <a:prstGeom prst="rect">
            <a:avLst/>
          </a:prstGeom>
          <a:solidFill>
            <a:schemeClr val="accent3">
              <a:lumMod val="20000"/>
              <a:lumOff val="80000"/>
              <a:alpha val="42000"/>
            </a:schemeClr>
          </a:solidFill>
          <a:ln w="254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9267855" name="Rectangle 13"/>
          <p:cNvSpPr txBox="1"/>
          <p:nvPr/>
        </p:nvSpPr>
        <p:spPr bwMode="auto">
          <a:xfrm rot="0" flipH="0" flipV="0">
            <a:off x="2626105" y="3822211"/>
            <a:ext cx="4126492" cy="518519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Add Data Model for syntactic CoAP compression :</a:t>
            </a:r>
            <a:endParaRPr lang="fr-FR"/>
          </a:p>
          <a:p>
            <a:pPr marL="239821" indent="-239821">
              <a:buFont typeface="Arial"/>
              <a:buChar char="•"/>
              <a:defRPr/>
            </a:pPr>
            <a:r>
              <a:rPr lang="fr-FR"/>
              <a:t>Three fields (∆option, length, data)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88289" name="Google Shape;82;p1"/>
          <p:cNvSpPr txBox="1"/>
          <p:nvPr>
            <p:ph type="title"/>
          </p:nvPr>
        </p:nvSpPr>
        <p:spPr bwMode="auto">
          <a:xfrm flipH="0" flipV="0">
            <a:off x="1410498" y="1119273"/>
            <a:ext cx="7028298" cy="933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98" tIns="91398" rIns="91398" bIns="91398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Open Sans"/>
              <a:buNone/>
              <a:defRPr/>
            </a:pPr>
            <a:r>
              <a:rPr lang="en-US" sz="3600" b="0" i="0" u="none" strike="noStrike" cap="none" spc="0">
                <a:solidFill>
                  <a:srgbClr val="FFFFFF"/>
                </a:solidFill>
                <a:latin typeface="Inter"/>
                <a:ea typeface="Inter"/>
                <a:cs typeface="Inter"/>
              </a:rPr>
              <a:t>draft-ietf-schc-icmpv6-compression-03</a:t>
            </a:r>
            <a:endParaRPr sz="3600"/>
          </a:p>
        </p:txBody>
      </p:sp>
      <p:sp>
        <p:nvSpPr>
          <p:cNvPr id="1336086316" name="Google Shape;83;p1"/>
          <p:cNvSpPr txBox="1"/>
          <p:nvPr/>
        </p:nvSpPr>
        <p:spPr bwMode="auto">
          <a:xfrm>
            <a:off x="486916" y="254439"/>
            <a:ext cx="49869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99" tIns="91399" rIns="91399" bIns="91399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/>
            </a:pPr>
            <a:r>
              <a:rPr lang="fr-FR" sz="21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Nov </a:t>
            </a:r>
            <a:r>
              <a:rPr lang="fr-FR" sz="21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17</a:t>
            </a:r>
            <a:r>
              <a:rPr lang="en-US" sz="2100" b="0" i="0" u="none" strike="noStrike" cap="none" baseline="30000">
                <a:solidFill>
                  <a:srgbClr val="FFFFFF"/>
                </a:solidFill>
                <a:latin typeface="Inter"/>
                <a:ea typeface="Inter"/>
                <a:cs typeface="Inter"/>
              </a:rPr>
              <a:t>th</a:t>
            </a:r>
            <a:r>
              <a:rPr lang="en-US" sz="21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, 2026</a:t>
            </a:r>
            <a:endParaRPr sz="11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842170" name="Google Shape;84;p1"/>
          <p:cNvSpPr txBox="1"/>
          <p:nvPr/>
        </p:nvSpPr>
        <p:spPr bwMode="auto">
          <a:xfrm>
            <a:off x="191741" y="4416808"/>
            <a:ext cx="3783600" cy="44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91424" rIns="91424" bIns="91424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</a:rPr>
              <a:t>IETF 12</a:t>
            </a:r>
            <a:r>
              <a:rPr lang="fr-F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</a:rPr>
              <a:t>7</a:t>
            </a: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</a:rPr>
              <a:t>, </a:t>
            </a:r>
            <a:r>
              <a:rPr lang="fr-F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</a:rPr>
              <a:t>San Francisco</a:t>
            </a: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835779142" name="Google Shape;85;p1"/>
          <p:cNvSpPr txBox="1"/>
          <p:nvPr/>
        </p:nvSpPr>
        <p:spPr bwMode="auto">
          <a:xfrm flipH="0" flipV="0">
            <a:off x="707632" y="2318105"/>
            <a:ext cx="8085297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91424" rIns="91424" bIns="91424" anchor="t" anchorCtr="0">
            <a:noAutofit/>
          </a:bodyPr>
          <a:lstStyle/>
          <a:p>
            <a:pPr>
              <a:defRPr/>
            </a:pPr>
            <a:r>
              <a:rPr lang="en-US" sz="2400" b="0" i="0" u="none" strike="noStrike" cap="none">
                <a:solidFill>
                  <a:srgbClr val="FFF2CC"/>
                </a:solidFill>
                <a:latin typeface="Inter"/>
                <a:ea typeface="Inter"/>
                <a:cs typeface="Inter"/>
              </a:rPr>
              <a:t>Authors: </a:t>
            </a:r>
            <a:r>
              <a:rPr lang="en-US" sz="2400" b="0" i="0" u="none" strike="noStrike" cap="none" spc="0">
                <a:solidFill>
                  <a:srgbClr val="FFF2CC"/>
                </a:solidFill>
                <a:latin typeface="Inter"/>
                <a:ea typeface="Inter"/>
                <a:cs typeface="Inter"/>
              </a:rPr>
              <a:t> </a:t>
            </a:r>
            <a:r>
              <a:rPr lang="en-US" sz="2400" b="0" i="0" u="none" strike="noStrike" cap="none" spc="0">
                <a:solidFill>
                  <a:srgbClr val="FFF2CC"/>
                </a:solidFill>
                <a:latin typeface="Inter"/>
                <a:ea typeface="Inter"/>
                <a:cs typeface="Inter"/>
              </a:rPr>
              <a:t> D. Barthel</a:t>
            </a:r>
            <a:r>
              <a:rPr lang="fr-FR" sz="2400" b="0" i="0" u="none" strike="noStrike" cap="none" spc="0">
                <a:solidFill>
                  <a:srgbClr val="FFF2CC"/>
                </a:solidFill>
                <a:latin typeface="Inter"/>
                <a:ea typeface="Inter"/>
                <a:cs typeface="Inter"/>
              </a:rPr>
              <a:t>, </a:t>
            </a:r>
            <a:r>
              <a:rPr lang="en-US" sz="2400" b="0" i="0" u="none" strike="noStrike" cap="none" spc="0">
                <a:solidFill>
                  <a:srgbClr val="FFF2CC"/>
                </a:solidFill>
                <a:latin typeface="Inter"/>
                <a:ea typeface="Inter"/>
                <a:cs typeface="Inter"/>
              </a:rPr>
              <a:t>L. Toutain</a:t>
            </a:r>
            <a:r>
              <a:rPr lang="fr-FR"/>
              <a:t>, </a:t>
            </a:r>
            <a:r>
              <a:rPr lang="en-US" sz="2400" b="0" i="0" u="none" strike="noStrike" cap="none" spc="0">
                <a:solidFill>
                  <a:srgbClr val="FFF2CC"/>
                </a:solidFill>
                <a:latin typeface="Inter"/>
                <a:ea typeface="Inter"/>
                <a:cs typeface="Inter"/>
              </a:rPr>
              <a:t>M. Dumay</a:t>
            </a:r>
            <a:endParaRPr lang="en-US" sz="2400" b="0" i="0" u="none" strike="noStrike" cap="none" spc="0">
              <a:solidFill>
                <a:srgbClr val="FFF2CC"/>
              </a:solidFill>
              <a:latin typeface="Inter"/>
              <a:cs typeface="Inter"/>
            </a:endParaRPr>
          </a:p>
        </p:txBody>
      </p:sp>
      <p:pic>
        <p:nvPicPr>
          <p:cNvPr id="1547866574" name="Google Shape;86;p1"/>
          <p:cNvPicPr/>
          <p:nvPr/>
        </p:nvPicPr>
        <p:blipFill rotWithShape="1">
          <a:blip r:embed="rId3">
            <a:alphaModFix/>
          </a:blip>
          <a:srcRect l="9711" t="41600" r="22260" b="24843"/>
          <a:stretch/>
        </p:blipFill>
        <p:spPr bwMode="auto">
          <a:xfrm>
            <a:off x="3247924" y="4253648"/>
            <a:ext cx="2861895" cy="767620"/>
          </a:xfrm>
          <a:prstGeom prst="rect">
            <a:avLst/>
          </a:prstGeom>
          <a:noFill/>
          <a:ln>
            <a:noFill/>
          </a:ln>
        </p:spPr>
      </p:pic>
      <p:sp>
        <p:nvSpPr>
          <p:cNvPr id="1612573028" name="Google Shape;87;p1"/>
          <p:cNvSpPr txBox="1"/>
          <p:nvPr/>
        </p:nvSpPr>
        <p:spPr bwMode="auto">
          <a:xfrm>
            <a:off x="707634" y="3178279"/>
            <a:ext cx="57249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91424" rIns="91424" bIns="91424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/>
            </a:pPr>
            <a:r>
              <a:rPr lang="en-US" sz="2400" b="0" i="0" u="none" strike="noStrike" cap="none">
                <a:solidFill>
                  <a:srgbClr val="FFF2CC"/>
                </a:solidFill>
                <a:latin typeface="Inter"/>
                <a:ea typeface="Inter"/>
                <a:cs typeface="Inter"/>
              </a:rPr>
              <a:t>Presenter: L. Toutain</a:t>
            </a:r>
            <a:endParaRPr sz="2400" b="0" i="0" u="none" strike="noStrike" cap="none">
              <a:solidFill>
                <a:srgbClr val="FFF2CC"/>
              </a:solidFill>
              <a:latin typeface="Inter"/>
              <a:ea typeface="Inter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154885" name="Google Shape;17;p7"/>
          <p:cNvSpPr txBox="1"/>
          <p:nvPr>
            <p:ph type="body" idx="1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2270621" name="Google Shape;18;p7"/>
          <p:cNvSpPr txBox="1"/>
          <p:nvPr>
            <p:ph type="sldNum" idx="12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DBB77244-5EC1-7B83-9BBA-D3F58816C736}" type="slidenum">
              <a:rPr lang="en-US"/>
              <a:t>7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Material">
  <a:themeElements>
    <a:clrScheme name="Material">
      <a:dk1>
        <a:srgbClr val="002D3C"/>
      </a:dk1>
      <a:lt1>
        <a:srgbClr val="4285F4"/>
      </a:lt1>
      <a:dk2>
        <a:srgbClr val="A7A7A7"/>
      </a:dk2>
      <a:lt2>
        <a:srgbClr val="53535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Material">
  <a:themeElements>
    <a:clrScheme name="Material">
      <a:dk1>
        <a:srgbClr val="002D3C"/>
      </a:dk1>
      <a:lt1>
        <a:srgbClr val="4285F4"/>
      </a:lt1>
      <a:dk2>
        <a:srgbClr val="A7A7A7"/>
      </a:dk2>
      <a:lt2>
        <a:srgbClr val="53535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Material">
  <a:themeElements>
    <a:clrScheme name="Material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ONLYOFFICE/10.0.0.169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Pascal Thubert (pthubert)</dc:creator>
  <cp:lastModifiedBy/>
  <cp:revision>2</cp:revision>
  <dcterms:modified xsi:type="dcterms:W3CDTF">2026-10-30T13:39:47Z</dcterms:modified>
</cp:coreProperties>
</file>